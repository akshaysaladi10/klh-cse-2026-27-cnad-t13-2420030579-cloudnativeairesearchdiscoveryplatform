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14"/>
  </p:notesMasterIdLst>
  <p:sldIdLst>
    <p:sldId id="262" r:id="rId3"/>
    <p:sldId id="707" r:id="rId4"/>
    <p:sldId id="257" r:id="rId5"/>
    <p:sldId id="903" r:id="rId6"/>
    <p:sldId id="902" r:id="rId7"/>
    <p:sldId id="258" r:id="rId8"/>
    <p:sldId id="904" r:id="rId9"/>
    <p:sldId id="259" r:id="rId10"/>
    <p:sldId id="260" r:id="rId11"/>
    <p:sldId id="906" r:id="rId12"/>
    <p:sldId id="905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presProps" Target="presProp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notesMaster" Target="notesMasters/notes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#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4B03022-1F30-4885-B78F-22C04F8A973E}" type="doc">
      <dgm:prSet loTypeId="urn:microsoft.com/office/officeart/2005/8/layout/venn3" loCatId="relationship" qsTypeId="urn:microsoft.com/office/officeart/2005/8/quickstyle/3d7#1" qsCatId="3D" csTypeId="urn:microsoft.com/office/officeart/2005/8/colors/colorful1#1" csCatId="colorful" phldr="1"/>
      <dgm:spPr/>
      <dgm:t>
        <a:bodyPr/>
        <a:lstStyle/>
        <a:p>
          <a:endParaRPr lang="en-IN"/>
        </a:p>
      </dgm:t>
    </dgm:pt>
    <dgm:pt modelId="{4094C340-BA43-4FE7-BEDC-37D235AAAD16}" type="pres">
      <dgm:prSet presAssocID="{84B03022-1F30-4885-B78F-22C04F8A973E}" presName="Name0" presStyleCnt="0">
        <dgm:presLayoutVars>
          <dgm:dir/>
          <dgm:resizeHandles val="exact"/>
        </dgm:presLayoutVars>
      </dgm:prSet>
      <dgm:spPr/>
    </dgm:pt>
  </dgm:ptLst>
  <dgm:cxnLst>
    <dgm:cxn modelId="{536B444D-E965-4C7A-901B-8D59695FE972}" type="presOf" srcId="{84B03022-1F30-4885-B78F-22C04F8A973E}" destId="{4094C340-BA43-4FE7-BEDC-37D235AAAD16}" srcOrd="0" destOrd="0" presId="urn:microsoft.com/office/officeart/2005/8/layout/venn3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enn3">
  <dgm:title val=""/>
  <dgm:desc val=""/>
  <dgm:catLst>
    <dgm:cat type="relationship" pri="29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>
          <dgm:param type="fallback" val="2D"/>
        </dgm:alg>
      </dgm:if>
      <dgm:else name="Name3">
        <dgm:alg type="lin">
          <dgm:param type="fallback" val="2D"/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refType="w" refFor="ch" refPtType="node"/>
      <dgm:constr type="w" for="ch" forName="space" refType="w" refFor="ch" refPtType="node" fact="-0.2"/>
      <dgm:constr type="primFontSz" for="ch" ptType="node" op="equ" val="65"/>
    </dgm:constrLst>
    <dgm:ruleLst/>
    <dgm:forEach name="Name4" axis="ch" ptType="node">
      <dgm:layoutNode name="Name5" styleLbl="vennNode1">
        <dgm:varLst>
          <dgm:bulletEnabled val="1"/>
        </dgm:varLst>
        <dgm:alg type="tx">
          <dgm:param type="txAnchorVertCh" val="mid"/>
          <dgm:param type="txAnchorHorzCh" val="ctr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tMarg" refType="primFontSz" fact="0.1"/>
          <dgm:constr type="bMarg" refType="primFontSz" fact="0.1"/>
          <dgm:constr type="lMarg" refType="w" fact="0.156"/>
          <dgm:constr type="rMarg" refType="w" fact="0.156"/>
        </dgm:constrLst>
        <dgm:ruleLst>
          <dgm:rule type="primFontSz" val="5" fact="NaN" max="NaN"/>
        </dgm:ruleLst>
      </dgm:layoutNode>
      <dgm:forEach name="Name6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7#1">
  <dgm:title val=""/>
  <dgm:desc val=""/>
  <dgm:catLst>
    <dgm:cat type="3D" pri="11700"/>
  </dgm:catLst>
  <dgm:scene3d>
    <a:camera prst="perspectiveLeft" zoom="91000"/>
    <a:lightRig rig="threePt" dir="t">
      <a:rot lat="0" lon="0" rev="20640000"/>
    </a:lightRig>
  </dgm:scene3d>
  <dgm:styleLbl name="node0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threePt" dir="t"/>
    </dgm:scene3d>
    <dgm:sp3d extrusionH="50600" prstMaterial="clear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 extrusionH="50600" prstMaterial="metal">
      <a:bevelT w="101600" h="80600" prst="relaxedInset"/>
      <a:bevelB w="80600" h="80600" prst="relaxedInset"/>
    </dgm:sp3d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threePt" dir="t"/>
    </dgm:scene3d>
    <dgm:sp3d extrusionH="50600" prstMaterial="metal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 z="57200" extrusionH="10600" prstMaterial="plastic">
      <a:bevelT w="101600" h="8600" prst="relaxedInset"/>
      <a:bevelB w="8600" h="8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 z="-211800" extrusionH="10600" prstMaterial="plastic">
      <a:bevelT w="101600" h="8600" prst="relaxedInset"/>
      <a:bevelB w="8600" h="8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 z="106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 z="-2118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0000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/>
      <a:lightRig rig="threePt" dir="t"/>
    </dgm:scene3d>
    <dgm:sp3d z="-110000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/>
      <a:lightRig rig="threePt" dir="t"/>
    </dgm:scene3d>
    <dgm:sp3d z="-110000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 z="-161800" extrusionH="10600" prstMaterial="matte">
      <a:bevelT w="90600" h="18600" prst="softRound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 extrusionH="50600">
      <a:bevelT w="101600" h="80600"/>
      <a:bevelB w="80600" h="806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 extrusionH="50600">
      <a:bevelT w="101600" h="806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 z="-161800" extrusionH="10600" prstMaterial="matte">
      <a:bevelT w="90600" h="18600" prst="softRound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 extrusionH="50600" contourW="3000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 z="-161800" extrusionH="10600" contourW="3000">
      <a:bevelT w="48600" h="8600" prst="softRound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 extrusionH="50600" contourW="3000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 z="-161800" extrusionH="10600" contourW="3000">
      <a:bevelT w="48600" h="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 z="-1618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 extrusionH="50600">
      <a:bevelT w="80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 z="57200" extrusionH="600" contourW="3000" prstMaterial="plastic">
      <a:bevelT w="80600" h="18600" prst="relaxedInset"/>
      <a:bevelB w="80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A666E0-C270-4F2D-A5DC-96BE795B540E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F19044B-B5AF-477C-950C-4ED5126343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86060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84AE20-9EAE-4BB7-93AC-7EFA05BCA1CF}" type="slidenum">
              <a:rPr lang="en-IN" smtClean="0"/>
              <a:t>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274734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162C7A-CC9D-4035-A213-68F795EB7A2A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77035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E2BE77-A6B4-BF9A-F59F-6A1C17E6D4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9F4D497-63DE-C270-40A4-331A37D0B0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809C3A-1739-D230-186B-84454F6050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B5F904-3F1F-4281-A9E1-C2FB746B8BF7}" type="datetime1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A63778-C058-1235-D3A3-7BCFF3CD01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CNAD Project Review-1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9A1708-DD63-B8A6-CDE5-A057B2CF87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86997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8A0280-1254-E679-102E-D8CC13C8C6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784D78-2E62-1C74-D557-5115FDC295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B02B77-F303-2F09-80CB-35B74D2F58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1D6EA9-74F4-419E-9686-C1380811218E}" type="datetime1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3359BF-B012-085F-389A-331E721BC9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CNAD Project Review-1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1B0460-9CE8-D43D-79E7-A7A9144A3A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01623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787D46-3DEF-526E-5F46-4ADACBEC0A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5A517A-D5B3-3AF2-38BE-1D89988138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602125-0289-3272-156D-A3C31E8482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76D309-B4D5-4527-B36F-A10579509D53}" type="datetime1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9971A6-CC5A-CC09-A1F2-E284284E87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CNAD Project Review-1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9898D5-FC90-9DA1-FE2F-D07DEDDAD6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99524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389433-0D52-95EF-D78E-4FC912D4FC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1A2DAE-6EF3-6910-5373-1A5DF409095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91AE70-38B9-B797-DE71-57CAE4C82D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25E50E-F402-07A4-460F-3431CA9992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35E381-5B31-4AF8-B2D5-825A2871D21A}" type="datetime1">
              <a:rPr lang="en-US" smtClean="0"/>
              <a:t>8/28/2026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4D7A32-7B4B-0167-CBD3-4FB4F42F73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CNAD Project Review-1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EB928D-DF00-B9C5-1A36-1E52C14CBB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71984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1CFE06-EEED-5CC3-A38A-576DD2C8AF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B0BA8C-9EDE-BB49-BD35-49BAFCB8D3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1DDD39-7D2C-4493-F56F-81F6BC3F98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714469B-6213-D34D-07A9-FCDC82AC0F1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46440F3-3F2D-85CC-D2E2-6D0D54B8A29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D346DE1-9818-60AF-EAF8-FFED39BA5E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58F223-DE04-43B3-A1CA-82C024222846}" type="datetime1">
              <a:rPr lang="en-US" smtClean="0"/>
              <a:t>8/28/2026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65E9E00-6460-F360-EDFD-B03FBA2C63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CNAD Project Review-1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ABFFDD7-5BFE-EA3B-6250-A381A56956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62514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8CE0FC-511C-2C2C-E510-CDDF263418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C796671-3C71-777F-3A4D-A89D7E5D68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DC939F-6452-40B3-8B30-A5C8AB6A0DFC}" type="datetime1">
              <a:rPr lang="en-US" smtClean="0"/>
              <a:t>8/28/2026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0024A6A-95A8-2753-339B-FC09D4CAEB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CNAD Project Review-1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9E07AF-B1A0-E180-D5AC-3F2F0031C9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24662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A8527A8-9BA5-6E6B-9B96-E6F6FADC46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43805D-913B-4F6D-902C-E5136FBF0E0C}" type="datetime1">
              <a:rPr lang="en-US" smtClean="0"/>
              <a:t>8/28/2026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EAB8C98-6C07-7CF9-228C-EF7E651474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CNAD Project Review-1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347070-DD15-038E-31F6-EF9EAD920E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83214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528049-15BD-A06B-510D-51342C765D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77F51D-EFF8-F91B-8F7D-613493BF84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43686E-4EC3-3B25-F2B1-DEF00AA476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24C9A3-A390-80A1-50AD-21AB6B2525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F5B214-4124-49D8-A24E-DBA27A6445C3}" type="datetime1">
              <a:rPr lang="en-US" smtClean="0"/>
              <a:t>8/28/2026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3FB16C-3A67-2F8D-2205-B1FF3BE2C6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CNAD Project Review-1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137A69-0E62-6668-A184-42A6DBF6B0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94807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8AFB01-3CD4-CFD9-5A71-411262FAAC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9DCEFF8-AB3F-42A6-ADAF-1080336CCB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3914F7C-5D5A-7C5D-50F2-B5067E1E61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E767C3-2493-217A-8E1D-03F6BBB4AC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D956CC-F7C8-47FB-89A1-FBAE32B2A8EB}" type="datetime1">
              <a:rPr lang="en-US" smtClean="0"/>
              <a:t>8/28/2026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8FEBF7-64BD-7F85-1240-C02E3705BD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CNAD Project Review-1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064DB1-56E3-B1C9-BED9-904A25C294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29736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EBCD61-B1C9-A34D-6022-ADB9D4B22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24F7E8-10E7-E6C8-474D-2A06ED5015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E7D405-5D32-C40F-1430-5F5A97DD4F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F10B40-B78B-4C4B-BDCF-3CB98651AC41}" type="datetime1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D9955A-6D2E-8ABB-AF09-EC9590F01F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CNAD Project Review-1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9E1B21-A5D1-C625-FE7B-A0232576A6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78863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5699036-2042-AC93-5117-4059611F3CE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22DD23D-712F-710C-F8D8-B4B2B3E059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095516-E45F-6DA1-08EA-04E781DF5C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7C7294-1103-4E07-87C3-AC60860F3AE3}" type="datetime1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171DB9-D5C7-9EFA-0532-06B0BAAF4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CNAD Project Review-1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735D92-5A89-BE34-CC33-93F56B3EDB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73495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591251-3688-4348-9E3A-30E567D55C4D}" type="datetime1">
              <a:rPr lang="en-US" smtClean="0"/>
              <a:t>8/28/2026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CNAD Project Review-1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8086027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9DBFDF-CDE2-40CB-8FA4-3CBB1CF54A9D}" type="datetime1">
              <a:rPr lang="en-US" smtClean="0"/>
              <a:t>8/28/2026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CNAD Project Review-1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829834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877594-F345-470B-9851-AAB51F8A07D1}" type="datetime1">
              <a:rPr lang="en-US" smtClean="0"/>
              <a:t>8/28/2026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CNAD Project Review-1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992301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14D82-1E80-4D9B-9F48-1603FF32D29B}" type="datetime1">
              <a:rPr lang="en-US" smtClean="0"/>
              <a:t>8/28/2026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CNAD Project Review-1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190834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F91D6D-4517-4318-8E63-BA647FC73676}" type="datetime1">
              <a:rPr lang="en-US" smtClean="0"/>
              <a:t>8/28/2026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CNAD Project Review-1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848570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48BE11-45C9-4A33-91D6-F834346F8230}" type="datetime1">
              <a:rPr lang="en-US" smtClean="0"/>
              <a:t>8/28/2026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CNAD Project Review-1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388491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C3F475-35D2-4DB4-B393-F0CB7E443F34}" type="datetime1">
              <a:rPr lang="en-US" smtClean="0"/>
              <a:t>8/28/2026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CNAD Project Review-1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188672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1F7173-3C06-4909-B7DB-53FA6C1C449E}" type="datetime1">
              <a:rPr lang="en-US" smtClean="0"/>
              <a:t>8/28/2026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CNAD Project Review-1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749178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36B61D-E795-4B3F-91F2-8D80F4704BCD}" type="datetime1">
              <a:rPr lang="en-US" smtClean="0"/>
              <a:t>8/28/2026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CNAD Project Review-1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633191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5192F9-85A8-474E-9101-6E509395F1D7}" type="datetime1">
              <a:rPr lang="en-US" smtClean="0"/>
              <a:t>8/28/2026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CNAD Project Review-1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758400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AA09B4-E520-4CE3-B3CD-968466114F87}" type="datetime1">
              <a:rPr lang="en-US" smtClean="0"/>
              <a:t>8/28/2026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CNAD Project Review-1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45954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9711898-360B-AD49-DD62-FA3B7B6626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A2BE89-A274-4461-2B81-5058744631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4B2A70-C1DC-D783-67E1-97822E79A51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A1BE44B-A080-444E-B2F8-66835D348D22}" type="datetime1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C5D01A-229C-E067-7B4E-BC254D6544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/>
              <a:t>CNAD Project Review-1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741767-E51C-1DAB-E3C8-F047E87A83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56373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AF9358-0389-4EC9-8C09-403CD6E20950}" type="datetime1">
              <a:rPr lang="en-US" smtClean="0"/>
              <a:t>8/28/2026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IN"/>
              <a:t>CNAD Project Review-1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37664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hyperlink" Target="https://svgsilh.com/03a9f4/image/98809.html" TargetMode="External"/><Relationship Id="rId7" Type="http://schemas.openxmlformats.org/officeDocument/2006/relationships/diagramColors" Target="../diagrams/colors1.xml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18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Relationship Id="rId9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500C0830-A1CA-96AE-68D2-18C57ABE4802}"/>
              </a:ext>
            </a:extLst>
          </p:cNvPr>
          <p:cNvSpPr txBox="1"/>
          <p:nvPr/>
        </p:nvSpPr>
        <p:spPr>
          <a:xfrm>
            <a:off x="2895600" y="2627115"/>
            <a:ext cx="6200774" cy="769441"/>
          </a:xfrm>
          <a:prstGeom prst="rect">
            <a:avLst/>
          </a:prstGeom>
          <a:noFill/>
          <a:effectLst>
            <a:glow rad="139700">
              <a:schemeClr val="accent2">
                <a:satMod val="175000"/>
                <a:alpha val="40000"/>
              </a:schemeClr>
            </a:glow>
          </a:effectLst>
        </p:spPr>
        <p:txBody>
          <a:bodyPr wrap="square">
            <a:spAutoFit/>
          </a:bodyPr>
          <a:lstStyle/>
          <a:p>
            <a:pPr algn="ctr"/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2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Thursday, August 27</a:t>
            </a:r>
            <a:r>
              <a:rPr lang="en-IN" sz="2200" b="1" baseline="30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</a:t>
            </a:r>
            <a:r>
              <a:rPr lang="en-IN" sz="2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2026</a:t>
            </a:r>
          </a:p>
        </p:txBody>
      </p:sp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BD22BC4D-4857-7D81-7819-37B7BB4264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93811938"/>
              </p:ext>
            </p:extLst>
          </p:nvPr>
        </p:nvGraphicFramePr>
        <p:xfrm>
          <a:off x="8193271" y="4898509"/>
          <a:ext cx="3702050" cy="17373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702050">
                  <a:extLst>
                    <a:ext uri="{9D8B030D-6E8A-4147-A177-3AD203B41FA5}">
                      <a16:colId xmlns:a16="http://schemas.microsoft.com/office/drawing/2014/main" val="40058472"/>
                    </a:ext>
                  </a:extLst>
                </a:gridCol>
              </a:tblGrid>
              <a:tr h="124213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b="1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Team Members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sz="1600" b="1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algn="l" defTabSz="914400" rtl="0" eaLnBrk="1" latinLnBrk="0" hangingPunct="1"/>
                      <a:r>
                        <a:rPr lang="en-IN" sz="1600" b="1" kern="1200" dirty="0" err="1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</a:rPr>
                        <a:t>B.Akhil</a:t>
                      </a:r>
                      <a:r>
                        <a:rPr lang="en-IN" sz="1600" b="1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</a:rPr>
                        <a:t> - 2420030141</a:t>
                      </a:r>
                      <a:endParaRPr lang="en-IN" sz="1400" b="1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b="1" kern="1200" dirty="0" err="1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</a:rPr>
                        <a:t>P.Ruthvik</a:t>
                      </a:r>
                      <a:r>
                        <a:rPr lang="en-IN" sz="1600" b="1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</a:rPr>
                        <a:t> - 2420030546</a:t>
                      </a:r>
                      <a:endParaRPr lang="en-IN" sz="1400" b="1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b="1" kern="1200" dirty="0" err="1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</a:rPr>
                        <a:t>S.Akshay</a:t>
                      </a:r>
                      <a:r>
                        <a:rPr lang="en-IN" sz="1600" b="1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</a:rPr>
                        <a:t> - 2420030579</a:t>
                      </a:r>
                      <a:endParaRPr lang="en-IN" sz="1400" b="1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sz="1400" b="1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</a:endParaRPr>
                    </a:p>
                    <a:p>
                      <a:pPr marL="0" algn="l" defTabSz="914400" rtl="0" eaLnBrk="1" latinLnBrk="0" hangingPunct="1"/>
                      <a:endParaRPr lang="en-IN" sz="1400" b="1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08782725"/>
                  </a:ext>
                </a:extLst>
              </a:tr>
            </a:tbl>
          </a:graphicData>
        </a:graphic>
      </p:graphicFrame>
      <p:grpSp>
        <p:nvGrpSpPr>
          <p:cNvPr id="21" name="Group 20">
            <a:extLst>
              <a:ext uri="{FF2B5EF4-FFF2-40B4-BE49-F238E27FC236}">
                <a16:creationId xmlns:a16="http://schemas.microsoft.com/office/drawing/2014/main" id="{B5A8CA37-C090-A9D8-75D0-A7A7D5DEBE24}"/>
              </a:ext>
            </a:extLst>
          </p:cNvPr>
          <p:cNvGrpSpPr/>
          <p:nvPr/>
        </p:nvGrpSpPr>
        <p:grpSpPr>
          <a:xfrm>
            <a:off x="8038280" y="4765558"/>
            <a:ext cx="230240" cy="232995"/>
            <a:chOff x="1567861" y="1613059"/>
            <a:chExt cx="230240" cy="232995"/>
          </a:xfrm>
          <a:solidFill>
            <a:srgbClr val="FF66FF"/>
          </a:solidFill>
        </p:grpSpPr>
        <p:sp>
          <p:nvSpPr>
            <p:cNvPr id="22" name="Isosceles Triangle 21">
              <a:extLst>
                <a:ext uri="{FF2B5EF4-FFF2-40B4-BE49-F238E27FC236}">
                  <a16:creationId xmlns:a16="http://schemas.microsoft.com/office/drawing/2014/main" id="{E48399A6-AAB5-B502-9670-34E0FCDF5541}"/>
                </a:ext>
              </a:extLst>
            </p:cNvPr>
            <p:cNvSpPr/>
            <p:nvPr/>
          </p:nvSpPr>
          <p:spPr>
            <a:xfrm rot="8294948">
              <a:off x="1567861" y="1613059"/>
              <a:ext cx="160845" cy="232995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highlight>
                  <a:srgbClr val="FFFF00"/>
                </a:highlight>
              </a:endParaRPr>
            </a:p>
          </p:txBody>
        </p:sp>
        <p:sp>
          <p:nvSpPr>
            <p:cNvPr id="23" name="Isosceles Triangle 22">
              <a:extLst>
                <a:ext uri="{FF2B5EF4-FFF2-40B4-BE49-F238E27FC236}">
                  <a16:creationId xmlns:a16="http://schemas.microsoft.com/office/drawing/2014/main" id="{67E59050-351C-0873-0298-AB77EA522C22}"/>
                </a:ext>
              </a:extLst>
            </p:cNvPr>
            <p:cNvSpPr/>
            <p:nvPr/>
          </p:nvSpPr>
          <p:spPr>
            <a:xfrm rot="11852143">
              <a:off x="1683856" y="1639371"/>
              <a:ext cx="114245" cy="153379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  <p:graphicFrame>
        <p:nvGraphicFramePr>
          <p:cNvPr id="30" name="Table 29">
            <a:extLst>
              <a:ext uri="{FF2B5EF4-FFF2-40B4-BE49-F238E27FC236}">
                <a16:creationId xmlns:a16="http://schemas.microsoft.com/office/drawing/2014/main" id="{9091FADF-77DB-CB1D-CD72-56C53CF763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98083295"/>
              </p:ext>
            </p:extLst>
          </p:nvPr>
        </p:nvGraphicFramePr>
        <p:xfrm>
          <a:off x="-795813" y="4774125"/>
          <a:ext cx="5902325" cy="1366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73565">
                  <a:extLst>
                    <a:ext uri="{9D8B030D-6E8A-4147-A177-3AD203B41FA5}">
                      <a16:colId xmlns:a16="http://schemas.microsoft.com/office/drawing/2014/main" val="40058472"/>
                    </a:ext>
                  </a:extLst>
                </a:gridCol>
                <a:gridCol w="4528760">
                  <a:extLst>
                    <a:ext uri="{9D8B030D-6E8A-4147-A177-3AD203B41FA5}">
                      <a16:colId xmlns:a16="http://schemas.microsoft.com/office/drawing/2014/main" val="1330242319"/>
                    </a:ext>
                  </a:extLst>
                </a:gridCol>
              </a:tblGrid>
              <a:tr h="1332118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sz="500" b="1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IN" sz="1600" b="1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Under the Guidance of</a:t>
                      </a: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IN" sz="1400" b="1" dirty="0"/>
                        <a:t>Dr. Patha Srilatha</a:t>
                      </a: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IN" sz="1400" dirty="0"/>
                        <a:t>Associate Professor</a:t>
                      </a: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b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Department of CSE,</a:t>
                      </a: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KLH CSE Bowrampet Campus</a:t>
                      </a:r>
                      <a:endParaRPr lang="en-US" sz="14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08782725"/>
                  </a:ext>
                </a:extLst>
              </a:tr>
            </a:tbl>
          </a:graphicData>
        </a:graphic>
      </p:graphicFrame>
      <p:grpSp>
        <p:nvGrpSpPr>
          <p:cNvPr id="31" name="Group 30">
            <a:extLst>
              <a:ext uri="{FF2B5EF4-FFF2-40B4-BE49-F238E27FC236}">
                <a16:creationId xmlns:a16="http://schemas.microsoft.com/office/drawing/2014/main" id="{8A67E7A6-1F33-FBD3-09B8-F35F17C8F890}"/>
              </a:ext>
            </a:extLst>
          </p:cNvPr>
          <p:cNvGrpSpPr/>
          <p:nvPr/>
        </p:nvGrpSpPr>
        <p:grpSpPr>
          <a:xfrm>
            <a:off x="442519" y="4562547"/>
            <a:ext cx="230240" cy="232995"/>
            <a:chOff x="1567861" y="1613059"/>
            <a:chExt cx="230240" cy="232995"/>
          </a:xfrm>
          <a:solidFill>
            <a:srgbClr val="00B0F0"/>
          </a:solidFill>
        </p:grpSpPr>
        <p:sp>
          <p:nvSpPr>
            <p:cNvPr id="32" name="Isosceles Triangle 31">
              <a:extLst>
                <a:ext uri="{FF2B5EF4-FFF2-40B4-BE49-F238E27FC236}">
                  <a16:creationId xmlns:a16="http://schemas.microsoft.com/office/drawing/2014/main" id="{FE269535-B3A3-75F2-310C-D43D8AC3F905}"/>
                </a:ext>
              </a:extLst>
            </p:cNvPr>
            <p:cNvSpPr/>
            <p:nvPr/>
          </p:nvSpPr>
          <p:spPr>
            <a:xfrm rot="8294948">
              <a:off x="1567861" y="1613059"/>
              <a:ext cx="160845" cy="232995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highlight>
                  <a:srgbClr val="FFFF00"/>
                </a:highlight>
              </a:endParaRPr>
            </a:p>
          </p:txBody>
        </p:sp>
        <p:sp>
          <p:nvSpPr>
            <p:cNvPr id="33" name="Isosceles Triangle 32">
              <a:extLst>
                <a:ext uri="{FF2B5EF4-FFF2-40B4-BE49-F238E27FC236}">
                  <a16:creationId xmlns:a16="http://schemas.microsoft.com/office/drawing/2014/main" id="{FA8E9237-F9D3-FB94-D6EB-94D77AEFD506}"/>
                </a:ext>
              </a:extLst>
            </p:cNvPr>
            <p:cNvSpPr/>
            <p:nvPr/>
          </p:nvSpPr>
          <p:spPr>
            <a:xfrm rot="11852143">
              <a:off x="1683856" y="1639371"/>
              <a:ext cx="114245" cy="153379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  <p:sp>
        <p:nvSpPr>
          <p:cNvPr id="34" name="Date Placeholder 33">
            <a:extLst>
              <a:ext uri="{FF2B5EF4-FFF2-40B4-BE49-F238E27FC236}">
                <a16:creationId xmlns:a16="http://schemas.microsoft.com/office/drawing/2014/main" id="{C1554CCE-4DF8-89E6-E0F6-3C2A1439C7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A51D8D-77C0-43B9-9B5F-E46EDA00679A}" type="datetime1">
              <a:rPr lang="en-US" b="1" smtClean="0"/>
              <a:t>8/28/2026</a:t>
            </a:fld>
            <a:endParaRPr lang="en-IN" b="1" dirty="0"/>
          </a:p>
        </p:txBody>
      </p:sp>
      <p:sp>
        <p:nvSpPr>
          <p:cNvPr id="35" name="Footer Placeholder 34">
            <a:extLst>
              <a:ext uri="{FF2B5EF4-FFF2-40B4-BE49-F238E27FC236}">
                <a16:creationId xmlns:a16="http://schemas.microsoft.com/office/drawing/2014/main" id="{8FB49AA0-2464-6225-6B6C-063F9A6ECD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b="1" dirty="0"/>
              <a:t>CNAD Project Review-1</a:t>
            </a:r>
          </a:p>
        </p:txBody>
      </p:sp>
      <p:sp>
        <p:nvSpPr>
          <p:cNvPr id="36" name="Slide Number Placeholder 35">
            <a:extLst>
              <a:ext uri="{FF2B5EF4-FFF2-40B4-BE49-F238E27FC236}">
                <a16:creationId xmlns:a16="http://schemas.microsoft.com/office/drawing/2014/main" id="{28F834F9-83AA-E3F9-773A-4B7A83B345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1</a:t>
            </a:fld>
            <a:endParaRPr lang="en-IN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4EE5F681-D3B5-BC4B-8AA4-5688DCEEFB44}"/>
              </a:ext>
            </a:extLst>
          </p:cNvPr>
          <p:cNvSpPr/>
          <p:nvPr/>
        </p:nvSpPr>
        <p:spPr>
          <a:xfrm>
            <a:off x="638175" y="769267"/>
            <a:ext cx="10915650" cy="985640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4782FAE-AFAF-27B2-2591-CFAF7695BD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DD4CF64F-3FB6-0CE4-B778-63C5D5A1D343}"/>
              </a:ext>
            </a:extLst>
          </p:cNvPr>
          <p:cNvSpPr txBox="1"/>
          <p:nvPr/>
        </p:nvSpPr>
        <p:spPr>
          <a:xfrm>
            <a:off x="505065" y="975485"/>
            <a:ext cx="10715625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IN" sz="25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CLOUD-NATIVE AI RESEARCH DISCOVERY PLATFORM</a:t>
            </a:r>
            <a:endParaRPr kumimoji="0" lang="en-US" sz="25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Poppins" pitchFamily="2" charset="7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25BC1A0-FDE4-1557-375E-6E0BD69BC77B}"/>
              </a:ext>
            </a:extLst>
          </p:cNvPr>
          <p:cNvSpPr txBox="1"/>
          <p:nvPr/>
        </p:nvSpPr>
        <p:spPr>
          <a:xfrm>
            <a:off x="638175" y="2199745"/>
            <a:ext cx="1071562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CNAD Project Review-1</a:t>
            </a:r>
          </a:p>
        </p:txBody>
      </p:sp>
    </p:spTree>
    <p:extLst>
      <p:ext uri="{BB962C8B-B14F-4D97-AF65-F5344CB8AC3E}">
        <p14:creationId xmlns:p14="http://schemas.microsoft.com/office/powerpoint/2010/main" val="22476026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6FAE64B-DFA9-4528-D74E-DAEA88C008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4C1F5F2-ECD8-4C6D-ADBC-EC676B29AED6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8/28/2026</a:t>
            </a:fld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1222DE7-17C6-1B7E-71C0-2347B0AA2C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CNAD Project Review-1</a:t>
            </a: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420A00F-144B-157D-A12F-7CF90703CA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A3A418F-4DEE-4BB1-940B-1145D135750E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797C6D7-F4DC-4908-B610-D10EE43A9B41}"/>
              </a:ext>
            </a:extLst>
          </p:cNvPr>
          <p:cNvSpPr txBox="1"/>
          <p:nvPr/>
        </p:nvSpPr>
        <p:spPr>
          <a:xfrm>
            <a:off x="3020906" y="173546"/>
            <a:ext cx="5854242" cy="646331"/>
          </a:xfrm>
          <a:prstGeom prst="rect">
            <a:avLst/>
          </a:prstGeom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3600" b="1" i="0" u="none" strike="noStrike" kern="1200" cap="none" spc="0" normalizeH="0" baseline="0" noProof="0" dirty="0">
                <a:ln w="0"/>
                <a:solidFill>
                  <a:srgbClr val="4472C4"/>
                </a:solidFill>
                <a:effectLst/>
                <a:uLnTx/>
                <a:uFillTx/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</a:rPr>
              <a:t>Outline of Project Work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B25CDE63-8DDC-4AC4-7713-9D89D6D0F4B1}"/>
              </a:ext>
            </a:extLst>
          </p:cNvPr>
          <p:cNvGrpSpPr/>
          <p:nvPr/>
        </p:nvGrpSpPr>
        <p:grpSpPr>
          <a:xfrm>
            <a:off x="2001361" y="1377996"/>
            <a:ext cx="6784432" cy="4438977"/>
            <a:chOff x="1929643" y="1656655"/>
            <a:chExt cx="6784432" cy="4438977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C0A4CA55-824E-91B2-D5F9-032778D4B8B3}"/>
                </a:ext>
              </a:extLst>
            </p:cNvPr>
            <p:cNvSpPr txBox="1"/>
            <p:nvPr/>
          </p:nvSpPr>
          <p:spPr>
            <a:xfrm>
              <a:off x="2675533" y="3257433"/>
              <a:ext cx="4267376" cy="960328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Challenges</a:t>
              </a:r>
            </a:p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EE7E17B2-5AF8-C463-91C3-5B87FC773369}"/>
                </a:ext>
              </a:extLst>
            </p:cNvPr>
            <p:cNvSpPr txBox="1"/>
            <p:nvPr/>
          </p:nvSpPr>
          <p:spPr>
            <a:xfrm>
              <a:off x="2922896" y="3753448"/>
              <a:ext cx="4374693" cy="873572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Research Objectives</a:t>
              </a:r>
            </a:p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6D160BA9-A291-1BA5-C03E-7218C2169C28}"/>
                </a:ext>
              </a:extLst>
            </p:cNvPr>
            <p:cNvSpPr txBox="1"/>
            <p:nvPr/>
          </p:nvSpPr>
          <p:spPr>
            <a:xfrm>
              <a:off x="3139925" y="4332926"/>
              <a:ext cx="4529560" cy="937693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Conclusion &amp; Future Work</a:t>
              </a:r>
            </a:p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6C792DA3-F484-948A-E346-F158FE24CE3F}"/>
                </a:ext>
              </a:extLst>
            </p:cNvPr>
            <p:cNvSpPr txBox="1"/>
            <p:nvPr/>
          </p:nvSpPr>
          <p:spPr>
            <a:xfrm>
              <a:off x="3426151" y="4880317"/>
              <a:ext cx="4774676" cy="919739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References</a:t>
              </a:r>
              <a:b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</a:b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957E2443-43F4-3FA3-6C83-796D6B456220}"/>
                </a:ext>
              </a:extLst>
            </p:cNvPr>
            <p:cNvSpPr txBox="1"/>
            <p:nvPr/>
          </p:nvSpPr>
          <p:spPr>
            <a:xfrm>
              <a:off x="3822549" y="5483028"/>
              <a:ext cx="4891526" cy="612604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Publications Details</a:t>
              </a:r>
            </a:p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pic>
          <p:nvPicPr>
            <p:cNvPr id="7" name="Graphic 6">
              <a:extLst>
                <a:ext uri="{FF2B5EF4-FFF2-40B4-BE49-F238E27FC236}">
                  <a16:creationId xmlns:a16="http://schemas.microsoft.com/office/drawing/2014/main" id="{FEE87FCF-6A51-9005-163C-5E3B5C1257B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8229530" y="5002476"/>
              <a:ext cx="455841" cy="536286"/>
            </a:xfrm>
            <a:prstGeom prst="rect">
              <a:avLst/>
            </a:prstGeom>
          </p:spPr>
        </p:pic>
        <p:sp>
          <p:nvSpPr>
            <p:cNvPr id="28" name="Content Placeholder 11">
              <a:extLst>
                <a:ext uri="{FF2B5EF4-FFF2-40B4-BE49-F238E27FC236}">
                  <a16:creationId xmlns:a16="http://schemas.microsoft.com/office/drawing/2014/main" id="{F1211E34-5F1E-9B5C-4C59-2549F412DCD1}"/>
                </a:ext>
              </a:extLst>
            </p:cNvPr>
            <p:cNvSpPr txBox="1">
              <a:spLocks/>
            </p:cNvSpPr>
            <p:nvPr/>
          </p:nvSpPr>
          <p:spPr>
            <a:xfrm>
              <a:off x="1929643" y="1656655"/>
              <a:ext cx="3548330" cy="748994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 cap="flat" cmpd="sng" algn="ctr">
              <a:solidFill>
                <a:schemeClr val="accent4"/>
              </a:solidFill>
              <a:prstDash val="solid"/>
              <a:miter lim="800000"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vert="horz" lIns="91440" tIns="45720" rIns="91440" bIns="45720" rtlCol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Focus</a:t>
              </a: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3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3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endPara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31" name="Content Placeholder 11">
              <a:extLst>
                <a:ext uri="{FF2B5EF4-FFF2-40B4-BE49-F238E27FC236}">
                  <a16:creationId xmlns:a16="http://schemas.microsoft.com/office/drawing/2014/main" id="{4D713724-2EA7-CA04-47B9-F63B3DAC496D}"/>
                </a:ext>
              </a:extLst>
            </p:cNvPr>
            <p:cNvSpPr txBox="1">
              <a:spLocks/>
            </p:cNvSpPr>
            <p:nvPr/>
          </p:nvSpPr>
          <p:spPr>
            <a:xfrm>
              <a:off x="2209801" y="2217836"/>
              <a:ext cx="3886200" cy="666229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 cap="flat" cmpd="sng" algn="ctr">
              <a:solidFill>
                <a:schemeClr val="accent4"/>
              </a:solidFill>
              <a:prstDash val="solid"/>
              <a:miter lim="800000"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vert="horz" lIns="91440" tIns="45720" rIns="91440" bIns="45720" rtlCol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Introduction</a:t>
              </a: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3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3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endPara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pic>
          <p:nvPicPr>
            <p:cNvPr id="36" name="Graphic 35">
              <a:extLst>
                <a:ext uri="{FF2B5EF4-FFF2-40B4-BE49-F238E27FC236}">
                  <a16:creationId xmlns:a16="http://schemas.microsoft.com/office/drawing/2014/main" id="{55B3B570-3194-94D5-869B-2F3E3E133BA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7683523" y="4358877"/>
              <a:ext cx="455841" cy="536286"/>
            </a:xfrm>
            <a:prstGeom prst="rect">
              <a:avLst/>
            </a:prstGeom>
          </p:spPr>
        </p:pic>
        <p:pic>
          <p:nvPicPr>
            <p:cNvPr id="37" name="Graphic 36">
              <a:extLst>
                <a:ext uri="{FF2B5EF4-FFF2-40B4-BE49-F238E27FC236}">
                  <a16:creationId xmlns:a16="http://schemas.microsoft.com/office/drawing/2014/main" id="{A01B3509-5090-7764-12FF-0CDB13E360A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7229942" y="3813495"/>
              <a:ext cx="455841" cy="536286"/>
            </a:xfrm>
            <a:prstGeom prst="rect">
              <a:avLst/>
            </a:prstGeom>
          </p:spPr>
        </p:pic>
        <p:pic>
          <p:nvPicPr>
            <p:cNvPr id="38" name="Graphic 37">
              <a:extLst>
                <a:ext uri="{FF2B5EF4-FFF2-40B4-BE49-F238E27FC236}">
                  <a16:creationId xmlns:a16="http://schemas.microsoft.com/office/drawing/2014/main" id="{4A5FDD7E-5A46-92A5-C963-19E091BBF72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6863353" y="3200501"/>
              <a:ext cx="455841" cy="536286"/>
            </a:xfrm>
            <a:prstGeom prst="rect">
              <a:avLst/>
            </a:prstGeom>
          </p:spPr>
        </p:pic>
        <p:pic>
          <p:nvPicPr>
            <p:cNvPr id="39" name="Graphic 38">
              <a:extLst>
                <a:ext uri="{FF2B5EF4-FFF2-40B4-BE49-F238E27FC236}">
                  <a16:creationId xmlns:a16="http://schemas.microsoft.com/office/drawing/2014/main" id="{C50C5009-E2F0-E358-4C45-CAEADDEC93B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6443196" y="2766955"/>
              <a:ext cx="455841" cy="536286"/>
            </a:xfrm>
            <a:prstGeom prst="rect">
              <a:avLst/>
            </a:prstGeom>
          </p:spPr>
        </p:pic>
        <p:pic>
          <p:nvPicPr>
            <p:cNvPr id="40" name="Graphic 39">
              <a:extLst>
                <a:ext uri="{FF2B5EF4-FFF2-40B4-BE49-F238E27FC236}">
                  <a16:creationId xmlns:a16="http://schemas.microsoft.com/office/drawing/2014/main" id="{F1D91F2F-C2FB-3146-467B-21A20C8410D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6040392" y="2252522"/>
              <a:ext cx="455841" cy="536286"/>
            </a:xfrm>
            <a:prstGeom prst="rect">
              <a:avLst/>
            </a:prstGeom>
          </p:spPr>
        </p:pic>
        <p:pic>
          <p:nvPicPr>
            <p:cNvPr id="41" name="Graphic 40">
              <a:extLst>
                <a:ext uri="{FF2B5EF4-FFF2-40B4-BE49-F238E27FC236}">
                  <a16:creationId xmlns:a16="http://schemas.microsoft.com/office/drawing/2014/main" id="{7B0FD951-BFA0-1228-E572-2BFE866AEE7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5626122" y="1721293"/>
              <a:ext cx="455841" cy="536286"/>
            </a:xfrm>
            <a:prstGeom prst="rect">
              <a:avLst/>
            </a:prstGeom>
          </p:spPr>
        </p:pic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576F380C-3238-E430-3C22-3C23884CE532}"/>
                </a:ext>
              </a:extLst>
            </p:cNvPr>
            <p:cNvSpPr txBox="1"/>
            <p:nvPr/>
          </p:nvSpPr>
          <p:spPr>
            <a:xfrm>
              <a:off x="2490411" y="2773626"/>
              <a:ext cx="4004225" cy="506870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4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Literature Survey</a:t>
              </a:r>
              <a:endParaRPr kumimoji="0" lang="en-US" sz="204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</p:grpSp>
      <p:graphicFrame>
        <p:nvGraphicFramePr>
          <p:cNvPr id="26" name="Diagram 25">
            <a:extLst>
              <a:ext uri="{FF2B5EF4-FFF2-40B4-BE49-F238E27FC236}">
                <a16:creationId xmlns:a16="http://schemas.microsoft.com/office/drawing/2014/main" id="{C044B753-17EC-8A45-927F-C44CC40ED5BA}"/>
              </a:ext>
            </a:extLst>
          </p:cNvPr>
          <p:cNvGraphicFramePr/>
          <p:nvPr/>
        </p:nvGraphicFramePr>
        <p:xfrm>
          <a:off x="41510" y="115414"/>
          <a:ext cx="1474694" cy="94234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pic>
        <p:nvPicPr>
          <p:cNvPr id="10" name="Picture 9">
            <a:extLst>
              <a:ext uri="{FF2B5EF4-FFF2-40B4-BE49-F238E27FC236}">
                <a16:creationId xmlns:a16="http://schemas.microsoft.com/office/drawing/2014/main" id="{0B4D1914-919F-D842-1FC2-1BBFC0E95C2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249380" y="0"/>
            <a:ext cx="1901110" cy="622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79694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8C8F81-5402-FBBE-D32A-834F3C6033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7A614DC-364B-1BD9-B452-BC2E55FD9D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122E8B8-54AE-F861-D576-B62C19A557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F0E259-4615-46D4-A3BD-7CF5E55937D6}" type="datetime1">
              <a:rPr lang="en-US" smtClean="0"/>
              <a:t>8/28/2026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03DF040-570B-E40C-28DD-48ACF4776D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CNAD Project Review-1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7450DC-5C76-3221-3705-A7713237D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3</a:t>
            </a:fld>
            <a:endParaRPr lang="en-US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3CB58DBC-97DD-CAE2-6032-D8BF2561F46C}"/>
              </a:ext>
            </a:extLst>
          </p:cNvPr>
          <p:cNvSpPr/>
          <p:nvPr/>
        </p:nvSpPr>
        <p:spPr>
          <a:xfrm>
            <a:off x="3834920" y="136525"/>
            <a:ext cx="4105120" cy="708443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49DD67-226D-85A3-1196-28909E2A93C5}"/>
              </a:ext>
            </a:extLst>
          </p:cNvPr>
          <p:cNvSpPr txBox="1"/>
          <p:nvPr/>
        </p:nvSpPr>
        <p:spPr>
          <a:xfrm>
            <a:off x="1283368" y="1475874"/>
            <a:ext cx="9464842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dirty="0"/>
              <a:t>Traditional research can be </a:t>
            </a:r>
            <a:r>
              <a:rPr lang="en-IN" b="1" dirty="0"/>
              <a:t>time-consuming and inefficient</a:t>
            </a:r>
            <a:r>
              <a:rPr lang="en-IN" dirty="0"/>
              <a:t> because students, researchers, and academics often need to </a:t>
            </a:r>
            <a:r>
              <a:rPr lang="en-IN" b="1" dirty="0"/>
              <a:t>search through multiple sources</a:t>
            </a:r>
            <a:r>
              <a:rPr lang="en-IN" dirty="0"/>
              <a:t> to discover relevant research papers. After finding papers, understanding lengthy academic content and identifying important </a:t>
            </a:r>
            <a:r>
              <a:rPr lang="en-IN" b="1" dirty="0"/>
              <a:t>keywords, research insights, and related research</a:t>
            </a:r>
            <a:r>
              <a:rPr lang="en-IN" dirty="0"/>
              <a:t> requires additional time and effort. Managing research information, such as </a:t>
            </a:r>
            <a:r>
              <a:rPr lang="en-IN" b="1" dirty="0"/>
              <a:t>bookmarks and search history</a:t>
            </a:r>
            <a:r>
              <a:rPr lang="en-IN" dirty="0"/>
              <a:t>, can also become difficult when using different sources. Therefore, there is a need for a </a:t>
            </a:r>
            <a:r>
              <a:rPr lang="en-IN" b="1" dirty="0"/>
              <a:t>centralized, intelligent, and scalable platform</a:t>
            </a:r>
            <a:r>
              <a:rPr lang="en-IN" dirty="0"/>
              <a:t> that can simplify research paper discovery, provide </a:t>
            </a:r>
            <a:r>
              <a:rPr lang="en-IN" b="1" dirty="0"/>
              <a:t>AI-powered understanding and analysis</a:t>
            </a:r>
            <a:r>
              <a:rPr lang="en-IN" dirty="0"/>
              <a:t>, and help users </a:t>
            </a:r>
            <a:r>
              <a:rPr lang="en-IN" b="1" dirty="0"/>
              <a:t>organize research information efficiently</a:t>
            </a:r>
            <a:r>
              <a:rPr lang="en-IN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18439377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D4AF34-8CFC-8161-A3CD-DED259C92A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B2C6E66-DFCA-CBBA-3972-F62C5800AE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E1EEFAC-0ECA-A18F-A4B4-033D371112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D399FE-9025-4738-A866-75F92FF5600E}" type="datetime1">
              <a:rPr lang="en-US" smtClean="0"/>
              <a:t>8/28/2026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44FD4BC-7EB9-607E-38E4-8C64E6E11A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CNAD Project Review-1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4C535C-1312-10F3-FBDA-B7001433D5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4</a:t>
            </a:fld>
            <a:endParaRPr lang="en-US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BADE4BBA-6735-AAC4-BA57-E76FE3B3CF7A}"/>
              </a:ext>
            </a:extLst>
          </p:cNvPr>
          <p:cNvSpPr/>
          <p:nvPr/>
        </p:nvSpPr>
        <p:spPr>
          <a:xfrm>
            <a:off x="3845080" y="122680"/>
            <a:ext cx="4105120" cy="708443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AE0D33A-0922-E6F2-08FA-4B3F3C97802A}"/>
              </a:ext>
            </a:extLst>
          </p:cNvPr>
          <p:cNvSpPr txBox="1"/>
          <p:nvPr/>
        </p:nvSpPr>
        <p:spPr>
          <a:xfrm>
            <a:off x="1363579" y="1347537"/>
            <a:ext cx="9561095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To develop a </a:t>
            </a:r>
            <a:r>
              <a:rPr lang="en-IN" b="1" dirty="0"/>
              <a:t>centralized research discovery platform</a:t>
            </a:r>
            <a:r>
              <a:rPr lang="en-IN" dirty="0"/>
              <a:t> that helps students and researchers easily find relevant academic papers.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To provide </a:t>
            </a:r>
            <a:r>
              <a:rPr lang="en-IN" b="1" dirty="0"/>
              <a:t>AI-powered summaries</a:t>
            </a:r>
            <a:r>
              <a:rPr lang="en-IN" dirty="0"/>
              <a:t> that help users understand lengthy research papers quickly.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To automatically extract important </a:t>
            </a:r>
            <a:r>
              <a:rPr lang="en-IN" b="1" dirty="0"/>
              <a:t>keywords and research insights</a:t>
            </a:r>
            <a:r>
              <a:rPr lang="en-IN" dirty="0"/>
              <a:t> from academic content.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To </a:t>
            </a:r>
            <a:r>
              <a:rPr lang="en-IN" b="1" dirty="0"/>
              <a:t>recommend related research papers</a:t>
            </a:r>
            <a:r>
              <a:rPr lang="en-IN" dirty="0"/>
              <a:t> based on the user’s interests and searches.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To provide features for </a:t>
            </a:r>
            <a:r>
              <a:rPr lang="en-IN" b="1" dirty="0"/>
              <a:t>bookmarks and search history</a:t>
            </a:r>
            <a:r>
              <a:rPr lang="en-IN" dirty="0"/>
              <a:t> to help users organize and manage their research.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To build a </a:t>
            </a:r>
            <a:r>
              <a:rPr lang="en-IN" b="1" dirty="0"/>
              <a:t>scalable and reliable cloud-native application</a:t>
            </a:r>
            <a:r>
              <a:rPr lang="en-IN" dirty="0"/>
              <a:t> using Docker, Kubernetes, and AWS EKS.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To integrate </a:t>
            </a:r>
            <a:r>
              <a:rPr lang="en-IN" b="1" dirty="0"/>
              <a:t>AI services and research APIs</a:t>
            </a:r>
            <a:r>
              <a:rPr lang="en-IN" dirty="0"/>
              <a:t> to improve the overall research discovery and analysis process.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177829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ACD11AD-3AF5-B626-2B60-0567E4585BB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159250022"/>
              </p:ext>
            </p:extLst>
          </p:nvPr>
        </p:nvGraphicFramePr>
        <p:xfrm>
          <a:off x="274647" y="1080348"/>
          <a:ext cx="11642705" cy="4651597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10890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752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7610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93658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865714">
                  <a:extLst>
                    <a:ext uri="{9D8B030D-6E8A-4147-A177-3AD203B41FA5}">
                      <a16:colId xmlns:a16="http://schemas.microsoft.com/office/drawing/2014/main" val="1396003017"/>
                    </a:ext>
                  </a:extLst>
                </a:gridCol>
              </a:tblGrid>
              <a:tr h="38791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/>
                        <a:t>Authors</a:t>
                      </a:r>
                      <a:endParaRPr lang="en-IN" sz="1600"/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/>
                        <a:t>Title of the Paper</a:t>
                      </a:r>
                      <a:endParaRPr lang="en-IN" sz="1600"/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/>
                        <a:t>Methodology</a:t>
                      </a:r>
                      <a:endParaRPr lang="en-IN" sz="1600"/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/>
                        <a:t>Inferences</a:t>
                      </a:r>
                      <a:endParaRPr lang="en-IN" sz="1600"/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/>
                        <a:t>Limitation / Future Work</a:t>
                      </a:r>
                      <a:endParaRPr lang="en-IN" sz="1600"/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4193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/>
                        <a:t>Kratzke &amp; Quint [1]</a:t>
                      </a:r>
                      <a:endParaRPr lang="en-IN" sz="16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/>
                        <a:t>Understanding Cloud-Native Applications after 10 Years of Cloud Computing – A Systematic Mapping Study</a:t>
                      </a:r>
                      <a:endParaRPr lang="en-IN" sz="16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Systematic mapping of </a:t>
                      </a:r>
                      <a:r>
                        <a:rPr lang="en-IN" sz="1600" b="1"/>
                        <a:t>cloud-native applications, architectures and engineering practices</a:t>
                      </a:r>
                      <a:r>
                        <a:rPr lang="en-IN" sz="1600"/>
                        <a:t>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Identifies </a:t>
                      </a:r>
                      <a:r>
                        <a:rPr lang="en-IN" sz="1600" b="1"/>
                        <a:t>microservices, containers and cloud scalability</a:t>
                      </a:r>
                      <a:r>
                        <a:rPr lang="en-IN" sz="1600"/>
                        <a:t> as important characteristics of cloud-native applications.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Further work is needed to improve </a:t>
                      </a:r>
                      <a:r>
                        <a:rPr lang="en-IN" sz="1600" b="1"/>
                        <a:t>cloud-native architectures and engineering practices</a:t>
                      </a:r>
                      <a:r>
                        <a:rPr lang="en-IN" sz="1600"/>
                        <a:t>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14155954"/>
                  </a:ext>
                </a:extLst>
              </a:tr>
              <a:tr h="13546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/>
                        <a:t>Di Francesco et al. [2]</a:t>
                      </a:r>
                      <a:endParaRPr lang="en-IN" sz="16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dirty="0"/>
                        <a:t>Architecting with Microservices: A Systematic Mapping Study</a:t>
                      </a:r>
                      <a:endParaRPr lang="en-IN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Systematic mapping of research on </a:t>
                      </a:r>
                      <a:r>
                        <a:rPr lang="en-IN" sz="1600" b="1"/>
                        <a:t>microservice architecture and its adoption</a:t>
                      </a:r>
                      <a:r>
                        <a:rPr lang="en-IN" sz="1600"/>
                        <a:t>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Microservices enable </a:t>
                      </a:r>
                      <a:r>
                        <a:rPr lang="en-IN" sz="1600" b="1"/>
                        <a:t>modular, independent and scalable services</a:t>
                      </a:r>
                      <a:r>
                        <a:rPr lang="en-IN" sz="1600"/>
                        <a:t>, making them suitable for cloud-native applications.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Challenges remain in </a:t>
                      </a:r>
                      <a:r>
                        <a:rPr lang="en-IN" sz="1600" b="1"/>
                        <a:t>service decomposition, deployment and architecture evolution</a:t>
                      </a:r>
                      <a:r>
                        <a:rPr lang="en-IN" sz="1600"/>
                        <a:t>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55426370"/>
                  </a:ext>
                </a:extLst>
              </a:tr>
              <a:tr h="13546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/>
                        <a:t>Asyrofi et al. [3]</a:t>
                      </a:r>
                      <a:endParaRPr lang="en-IN" sz="16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/>
                        <a:t>Scholarly Recommendation Systems: A Literature Survey</a:t>
                      </a:r>
                      <a:endParaRPr lang="en-IN" sz="16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Survey of </a:t>
                      </a:r>
                      <a:r>
                        <a:rPr lang="en-IN" sz="1600" b="1"/>
                        <a:t>scholarly literature and research-paper recommendation systems</a:t>
                      </a:r>
                      <a:r>
                        <a:rPr lang="en-IN" sz="1600"/>
                        <a:t>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Recommendation systems help researchers </a:t>
                      </a:r>
                      <a:r>
                        <a:rPr lang="en-IN" sz="1600" b="1"/>
                        <a:t>discover relevant and related research papers efficiently</a:t>
                      </a:r>
                      <a:r>
                        <a:rPr lang="en-IN" sz="1600"/>
                        <a:t>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/>
                        <a:t>Future systems can improve </a:t>
                      </a:r>
                      <a:r>
                        <a:rPr lang="en-IN" sz="1600" b="1" dirty="0"/>
                        <a:t>semantic understanding, personalization and recommendation accuracy</a:t>
                      </a:r>
                      <a:r>
                        <a:rPr lang="en-IN" sz="1600" dirty="0"/>
                        <a:t>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41575018"/>
                  </a:ext>
                </a:extLst>
              </a:tr>
            </a:tbl>
          </a:graphicData>
        </a:graphic>
      </p:graphicFrame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A0FDE360-66C4-26CA-5DB9-8E99C2685B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BE2E2B-EEBE-417C-831B-9A36F38228DC}" type="datetime1">
              <a:rPr lang="en-US" smtClean="0"/>
              <a:t>8/28/2026</a:t>
            </a:fld>
            <a:endParaRPr lang="en-IN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0F095753-622E-2BA7-9495-60F9B6E57F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CNAD Project Review-1</a:t>
            </a:r>
            <a:endParaRPr lang="en-IN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9784944-5437-9E89-7017-F3DB9CA914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A418F-4DEE-4BB1-940B-1145D135750E}" type="slidenum">
              <a:rPr lang="en-IN" smtClean="0"/>
              <a:t>5</a:t>
            </a:fld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F3EBAEA-8DC6-8F54-F0D6-38F9643BD4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2704399D-42EB-45BD-D43F-A5AE14D447C0}"/>
              </a:ext>
            </a:extLst>
          </p:cNvPr>
          <p:cNvSpPr/>
          <p:nvPr/>
        </p:nvSpPr>
        <p:spPr>
          <a:xfrm>
            <a:off x="3773960" y="28819"/>
            <a:ext cx="4105120" cy="593732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</a:rPr>
              <a:t>Literature Survey</a:t>
            </a:r>
            <a:endParaRPr lang="en-IN" sz="2800" b="1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292770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AEF2FA-32F2-6715-843F-6ACC796D05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777B92A-0C12-D39A-8847-98719E7B6F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8EF7CC6-A232-6F78-D877-F4139E33B6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382076-AD1E-4D44-9D37-ACCF737AE8A4}" type="datetime1">
              <a:rPr lang="en-US" smtClean="0"/>
              <a:t>8/28/2026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B1B73B0-000A-32FB-5643-CD5676D4AF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CNAD Project Review-1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A1E0BD-2CF1-90B0-91FF-80A63764D2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6</a:t>
            </a:fld>
            <a:endParaRPr lang="en-US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CD00B50F-4223-2213-E4CD-57D228BCA0B6}"/>
              </a:ext>
            </a:extLst>
          </p:cNvPr>
          <p:cNvSpPr/>
          <p:nvPr/>
        </p:nvSpPr>
        <p:spPr>
          <a:xfrm>
            <a:off x="3352320" y="268328"/>
            <a:ext cx="5258280" cy="708443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Problem Gap Identification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F05F737-869D-2EB6-255B-705501116CC6}"/>
              </a:ext>
            </a:extLst>
          </p:cNvPr>
          <p:cNvSpPr txBox="1"/>
          <p:nvPr/>
        </p:nvSpPr>
        <p:spPr>
          <a:xfrm>
            <a:off x="1106905" y="1540042"/>
            <a:ext cx="10246895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dirty="0"/>
              <a:t>Existing solutions generally address </a:t>
            </a:r>
            <a:r>
              <a:rPr lang="en-IN" b="1" dirty="0"/>
              <a:t>academic search, research-paper recommendation, or AI-based literature analysis separately</a:t>
            </a:r>
            <a:r>
              <a:rPr lang="en-IN" dirty="0"/>
              <a:t>, but they do not provide a </a:t>
            </a:r>
            <a:r>
              <a:rPr lang="en-IN" b="1" dirty="0"/>
              <a:t>single integrated platform</a:t>
            </a:r>
            <a:r>
              <a:rPr lang="en-IN" dirty="0"/>
              <a:t> that combines research discovery with AI-powered understanding and cloud-native deployment. Researchers still need to use multiple tools to </a:t>
            </a:r>
            <a:r>
              <a:rPr lang="en-IN" b="1" dirty="0"/>
              <a:t>find, understand, and organize</a:t>
            </a:r>
            <a:r>
              <a:rPr lang="en-IN" dirty="0"/>
              <a:t> research information efficiently. There is therefore a gap for a </a:t>
            </a:r>
            <a:r>
              <a:rPr lang="en-IN" b="1" dirty="0"/>
              <a:t>scalable, modular, and reliable cloud-native platform</a:t>
            </a:r>
            <a:r>
              <a:rPr lang="en-IN" dirty="0"/>
              <a:t> that integrates </a:t>
            </a:r>
            <a:r>
              <a:rPr lang="en-IN" b="1" dirty="0"/>
              <a:t>AI-based research analysis, paper recommendations, and research management</a:t>
            </a:r>
            <a:r>
              <a:rPr lang="en-IN" dirty="0"/>
              <a:t> within one system.</a:t>
            </a:r>
          </a:p>
          <a:p>
            <a:pPr algn="just"/>
            <a:r>
              <a:rPr lang="en-IN" dirty="0"/>
              <a:t>Our project aims to address this gap by combining </a:t>
            </a:r>
            <a:r>
              <a:rPr lang="en-IN" b="1" dirty="0"/>
              <a:t>AI-powered research discovery</a:t>
            </a:r>
            <a:r>
              <a:rPr lang="en-IN" dirty="0"/>
              <a:t> with a </a:t>
            </a:r>
            <a:r>
              <a:rPr lang="en-IN" b="1" dirty="0"/>
              <a:t>cloud-native microservices architecture</a:t>
            </a:r>
            <a:r>
              <a:rPr lang="en-IN" dirty="0"/>
              <a:t>, enabling the platform to be </a:t>
            </a:r>
            <a:r>
              <a:rPr lang="en-IN" b="1" dirty="0"/>
              <a:t>containerized, scalable, reliable, and deployable on the cloud</a:t>
            </a:r>
            <a:r>
              <a:rPr lang="en-IN" dirty="0"/>
              <a:t>.</a:t>
            </a:r>
          </a:p>
          <a:p>
            <a:pPr algn="just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658760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4E9C45-DE8C-2239-2AAD-F9964B0FE2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5D98E5D-948B-E17A-C230-173D2F37FA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8B986C2-CA3F-0A13-E882-7C1384D448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382076-AD1E-4D44-9D37-ACCF737AE8A4}" type="datetime1">
              <a:rPr lang="en-US" smtClean="0"/>
              <a:t>8/28/2026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09D6220-2C96-345E-D960-9D8EF579A4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CNAD Project Review-1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3E4888-5934-2F2A-2B3C-BF8848F3A3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7</a:t>
            </a:fld>
            <a:endParaRPr lang="en-US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DC0C7C88-4C7E-9DD9-AC42-9E1FF52B369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34390463"/>
              </p:ext>
            </p:extLst>
          </p:nvPr>
        </p:nvGraphicFramePr>
        <p:xfrm>
          <a:off x="669918" y="979592"/>
          <a:ext cx="10852164" cy="5376758"/>
        </p:xfrm>
        <a:graphic>
          <a:graphicData uri="http://schemas.openxmlformats.org/drawingml/2006/table">
            <a:tbl>
              <a:tblPr/>
              <a:tblGrid>
                <a:gridCol w="3583264">
                  <a:extLst>
                    <a:ext uri="{9D8B030D-6E8A-4147-A177-3AD203B41FA5}">
                      <a16:colId xmlns:a16="http://schemas.microsoft.com/office/drawing/2014/main" val="4061101483"/>
                    </a:ext>
                  </a:extLst>
                </a:gridCol>
                <a:gridCol w="3634450">
                  <a:extLst>
                    <a:ext uri="{9D8B030D-6E8A-4147-A177-3AD203B41FA5}">
                      <a16:colId xmlns:a16="http://schemas.microsoft.com/office/drawing/2014/main" val="1499037303"/>
                    </a:ext>
                  </a:extLst>
                </a:gridCol>
                <a:gridCol w="3634450">
                  <a:extLst>
                    <a:ext uri="{9D8B030D-6E8A-4147-A177-3AD203B41FA5}">
                      <a16:colId xmlns:a16="http://schemas.microsoft.com/office/drawing/2014/main" val="1240095816"/>
                    </a:ext>
                  </a:extLst>
                </a:gridCol>
              </a:tblGrid>
              <a:tr h="22890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Existing Problem / Approach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Problem Gap Identified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Our Proposed Solution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3147572"/>
                  </a:ext>
                </a:extLst>
              </a:tr>
              <a:tr h="177397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1. Scattered Research Sources</a:t>
                      </a:r>
                      <a:r>
                        <a:rPr lang="en-IN"/>
                        <a:t> – Researchers search for papers across </a:t>
                      </a:r>
                      <a:r>
                        <a:rPr lang="en-IN" b="1"/>
                        <a:t>different academic sources and platforms</a:t>
                      </a:r>
                      <a:r>
                        <a:rPr lang="en-IN"/>
                        <a:t>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Research information is </a:t>
                      </a:r>
                      <a:r>
                        <a:rPr lang="en-IN" b="1"/>
                        <a:t>distributed across multiple sources</a:t>
                      </a:r>
                      <a:r>
                        <a:rPr lang="en-IN"/>
                        <a:t>, making it difficult and time-consuming to find relevant papers efficiently.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Centralized Research Discovery</a:t>
                      </a:r>
                      <a:r>
                        <a:rPr lang="en-IN"/>
                        <a:t> – Provides a single platform to </a:t>
                      </a:r>
                      <a:r>
                        <a:rPr lang="en-IN" b="1"/>
                        <a:t>search and discover relevant research papers</a:t>
                      </a:r>
                      <a:r>
                        <a:rPr lang="en-IN"/>
                        <a:t>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8024174"/>
                  </a:ext>
                </a:extLst>
              </a:tr>
              <a:tr h="143062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2. Difficult Research Understanding</a:t>
                      </a:r>
                      <a:r>
                        <a:rPr lang="en-IN"/>
                        <a:t> – Researchers often need to read </a:t>
                      </a:r>
                      <a:r>
                        <a:rPr lang="en-IN" b="1"/>
                        <a:t>lengthy research papers</a:t>
                      </a:r>
                      <a:r>
                        <a:rPr lang="en-IN"/>
                        <a:t> to understand their main concepts and findings.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Extracting </a:t>
                      </a:r>
                      <a:r>
                        <a:rPr lang="en-IN" b="1" dirty="0"/>
                        <a:t>summaries, keywords, and research insights</a:t>
                      </a:r>
                      <a:r>
                        <a:rPr lang="en-IN" dirty="0"/>
                        <a:t> manually requires significant time and effort.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AI-Powered Research Analysis</a:t>
                      </a:r>
                      <a:r>
                        <a:rPr lang="en-IN"/>
                        <a:t> – Uses AI to generate </a:t>
                      </a:r>
                      <a:r>
                        <a:rPr lang="en-IN" b="1"/>
                        <a:t>summaries, extract keywords, and identify research insights</a:t>
                      </a:r>
                      <a:r>
                        <a:rPr lang="en-IN"/>
                        <a:t> from research content.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37096993"/>
                  </a:ext>
                </a:extLst>
              </a:tr>
              <a:tr h="177397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3. Non-Scalable Research Applications</a:t>
                      </a:r>
                      <a:r>
                        <a:rPr lang="en-IN"/>
                        <a:t> – Traditional research applications may not be designed for </a:t>
                      </a:r>
                      <a:r>
                        <a:rPr lang="en-IN" b="1"/>
                        <a:t>cloud-native scalability and continuous deployment</a:t>
                      </a:r>
                      <a:r>
                        <a:rPr lang="en-IN"/>
                        <a:t>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Lack of an integrated architecture supporting </a:t>
                      </a:r>
                      <a:r>
                        <a:rPr lang="en-IN" b="1"/>
                        <a:t>scalability, reliability, automated deployment, monitoring, and cloud infrastructure</a:t>
                      </a:r>
                      <a:r>
                        <a:rPr lang="en-IN"/>
                        <a:t>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Cloud-Native Platform</a:t>
                      </a:r>
                      <a:r>
                        <a:rPr lang="en-IN" dirty="0"/>
                        <a:t> – Uses </a:t>
                      </a:r>
                      <a:r>
                        <a:rPr lang="en-IN" b="1" dirty="0"/>
                        <a:t>Docker, Kubernetes, CI/CD, </a:t>
                      </a:r>
                      <a:r>
                        <a:rPr lang="en-IN" b="1" dirty="0" err="1"/>
                        <a:t>GitOps</a:t>
                      </a:r>
                      <a:r>
                        <a:rPr lang="en-IN" b="1" dirty="0"/>
                        <a:t>, AWS EKS, security scanning, and monitoring</a:t>
                      </a:r>
                      <a:r>
                        <a:rPr lang="en-IN" dirty="0"/>
                        <a:t> to build a </a:t>
                      </a:r>
                      <a:r>
                        <a:rPr lang="en-IN" b="1" dirty="0"/>
                        <a:t>scalable and reliable research platform</a:t>
                      </a:r>
                      <a:r>
                        <a:rPr lang="en-IN" dirty="0"/>
                        <a:t>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338707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873220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BC6D84-077B-7007-4B63-807557EC63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BC5F926-1E4C-4031-B9E9-6A17F126A3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08788A6-87D6-D1AD-CD09-882273D2CD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28917A-4773-4F0C-BADF-AB7FA9859A31}" type="datetime1">
              <a:rPr lang="en-US" smtClean="0"/>
              <a:t>8/28/2026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64A259-1A89-35BF-04C0-AB6DECF4E0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CNAD Project Review-1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95C214-DB26-4476-F790-7E558BB673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8</a:t>
            </a:fld>
            <a:endParaRPr lang="en-US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26FE5EF9-EC7B-4BF5-92FE-E68EC6C8C5B2}"/>
              </a:ext>
            </a:extLst>
          </p:cNvPr>
          <p:cNvSpPr/>
          <p:nvPr/>
        </p:nvSpPr>
        <p:spPr>
          <a:xfrm>
            <a:off x="2682240" y="136525"/>
            <a:ext cx="6303999" cy="708443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Innovation, Creativity, and Novelty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680CB9B-5CC9-F818-F641-D020737330CA}"/>
              </a:ext>
            </a:extLst>
          </p:cNvPr>
          <p:cNvSpPr txBox="1"/>
          <p:nvPr/>
        </p:nvSpPr>
        <p:spPr>
          <a:xfrm>
            <a:off x="689811" y="1097291"/>
            <a:ext cx="10940715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Innovation</a:t>
            </a:r>
          </a:p>
          <a:p>
            <a:pPr lvl="0"/>
            <a:r>
              <a:rPr lang="en-IN" dirty="0"/>
              <a:t>Combines </a:t>
            </a:r>
            <a:r>
              <a:rPr lang="en-IN" b="1" dirty="0"/>
              <a:t>AI-based research discovery</a:t>
            </a:r>
            <a:r>
              <a:rPr lang="en-IN" dirty="0"/>
              <a:t> with </a:t>
            </a:r>
            <a:r>
              <a:rPr lang="en-IN" b="1" dirty="0"/>
              <a:t>cloud-native deployment</a:t>
            </a:r>
            <a:r>
              <a:rPr lang="en-IN" dirty="0"/>
              <a:t> in one platform. </a:t>
            </a:r>
          </a:p>
          <a:p>
            <a:pPr lvl="0"/>
            <a:r>
              <a:rPr lang="en-IN" dirty="0"/>
              <a:t>Provides an integrated workflow for </a:t>
            </a:r>
            <a:r>
              <a:rPr lang="en-IN" b="1" dirty="0"/>
              <a:t>searching, </a:t>
            </a:r>
            <a:r>
              <a:rPr lang="en-IN" b="1" dirty="0" err="1"/>
              <a:t>analyzing</a:t>
            </a:r>
            <a:r>
              <a:rPr lang="en-IN" b="1" dirty="0"/>
              <a:t>, and managing research papers</a:t>
            </a:r>
            <a:r>
              <a:rPr lang="en-IN" dirty="0"/>
              <a:t>. </a:t>
            </a:r>
          </a:p>
          <a:p>
            <a:pPr lvl="0"/>
            <a:r>
              <a:rPr lang="en-IN" dirty="0"/>
              <a:t>Uses modern cloud technologies to support </a:t>
            </a:r>
            <a:r>
              <a:rPr lang="en-IN" b="1" dirty="0"/>
              <a:t>scalability and reliability</a:t>
            </a:r>
            <a:r>
              <a:rPr lang="en-IN" dirty="0"/>
              <a:t>. </a:t>
            </a:r>
          </a:p>
          <a:p>
            <a:pPr lvl="0"/>
            <a:endParaRPr lang="en-IN" dirty="0"/>
          </a:p>
          <a:p>
            <a:r>
              <a:rPr lang="en-IN" b="1" dirty="0"/>
              <a:t>Creativity</a:t>
            </a:r>
          </a:p>
          <a:p>
            <a:pPr lvl="0"/>
            <a:r>
              <a:rPr lang="en-IN" dirty="0"/>
              <a:t>Provides </a:t>
            </a:r>
            <a:r>
              <a:rPr lang="en-IN" b="1" dirty="0"/>
              <a:t>AI-generated summaries</a:t>
            </a:r>
            <a:r>
              <a:rPr lang="en-IN" dirty="0"/>
              <a:t> to simplify lengthy research papers. </a:t>
            </a:r>
          </a:p>
          <a:p>
            <a:pPr lvl="0"/>
            <a:r>
              <a:rPr lang="en-IN" dirty="0"/>
              <a:t>Automatically extracts </a:t>
            </a:r>
            <a:r>
              <a:rPr lang="en-IN" b="1" dirty="0"/>
              <a:t>keywords and research insights</a:t>
            </a:r>
            <a:r>
              <a:rPr lang="en-IN" dirty="0"/>
              <a:t>. </a:t>
            </a:r>
          </a:p>
          <a:p>
            <a:pPr lvl="0"/>
            <a:r>
              <a:rPr lang="en-IN" dirty="0"/>
              <a:t>Suggests </a:t>
            </a:r>
            <a:r>
              <a:rPr lang="en-IN" b="1" dirty="0"/>
              <a:t>related research papers</a:t>
            </a:r>
            <a:r>
              <a:rPr lang="en-IN" dirty="0"/>
              <a:t> to help users explore connected topics. </a:t>
            </a:r>
          </a:p>
          <a:p>
            <a:pPr lvl="0"/>
            <a:r>
              <a:rPr lang="en-IN" dirty="0"/>
              <a:t>Includes </a:t>
            </a:r>
            <a:r>
              <a:rPr lang="en-IN" b="1" dirty="0"/>
              <a:t>bookmarks and search history</a:t>
            </a:r>
            <a:r>
              <a:rPr lang="en-IN" dirty="0"/>
              <a:t> for easier research management. </a:t>
            </a:r>
          </a:p>
          <a:p>
            <a:pPr lvl="0"/>
            <a:endParaRPr lang="en-IN" dirty="0"/>
          </a:p>
          <a:p>
            <a:r>
              <a:rPr lang="en-IN" b="1" dirty="0"/>
              <a:t>Novelty</a:t>
            </a:r>
          </a:p>
          <a:p>
            <a:pPr lvl="0"/>
            <a:r>
              <a:rPr lang="en-IN" dirty="0"/>
              <a:t>Integrates </a:t>
            </a:r>
            <a:r>
              <a:rPr lang="en-IN" b="1" dirty="0"/>
              <a:t>research discovery + AI analysis + cloud-native architecture</a:t>
            </a:r>
            <a:r>
              <a:rPr lang="en-IN" dirty="0"/>
              <a:t> into a single system. </a:t>
            </a:r>
          </a:p>
          <a:p>
            <a:pPr lvl="0"/>
            <a:r>
              <a:rPr lang="en-IN" dirty="0"/>
              <a:t>Uses a </a:t>
            </a:r>
            <a:r>
              <a:rPr lang="en-IN" b="1" dirty="0"/>
              <a:t>microservices-based architecture</a:t>
            </a:r>
            <a:r>
              <a:rPr lang="en-IN" dirty="0"/>
              <a:t> with Docker and Kubernetes for modular deployment. </a:t>
            </a:r>
          </a:p>
          <a:p>
            <a:pPr lvl="0"/>
            <a:r>
              <a:rPr lang="en-IN" dirty="0"/>
              <a:t>Combines </a:t>
            </a:r>
            <a:r>
              <a:rPr lang="en-IN" b="1" dirty="0"/>
              <a:t>CI/CD, </a:t>
            </a:r>
            <a:r>
              <a:rPr lang="en-IN" b="1" dirty="0" err="1"/>
              <a:t>GitOps</a:t>
            </a:r>
            <a:r>
              <a:rPr lang="en-IN" b="1" dirty="0"/>
              <a:t>, security scanning, cloud deployment, and monitoring</a:t>
            </a:r>
            <a:r>
              <a:rPr lang="en-IN" dirty="0"/>
              <a:t> with an AI research platform. </a:t>
            </a:r>
          </a:p>
          <a:p>
            <a:pPr lvl="0"/>
            <a:r>
              <a:rPr lang="en-IN" dirty="0"/>
              <a:t>Provides an end-to-end approach from </a:t>
            </a:r>
            <a:r>
              <a:rPr lang="en-IN" b="1" dirty="0"/>
              <a:t>research discovery to AI understanding and scalable cloud deployment</a:t>
            </a:r>
            <a:r>
              <a:rPr lang="en-IN" dirty="0"/>
              <a:t>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241353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8AA2CC-2C9A-D968-2F38-FFC4A7D238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F0303AA-CEE8-2513-1736-59CB3A5EF8E4}"/>
              </a:ext>
            </a:extLst>
          </p:cNvPr>
          <p:cNvSpPr txBox="1"/>
          <p:nvPr/>
        </p:nvSpPr>
        <p:spPr>
          <a:xfrm>
            <a:off x="609599" y="1080836"/>
            <a:ext cx="11582401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Technical Feasibility</a:t>
            </a:r>
          </a:p>
          <a:p>
            <a:pPr lvl="0"/>
            <a:r>
              <a:rPr lang="en-IN" dirty="0"/>
              <a:t>The project can be developed using </a:t>
            </a:r>
            <a:r>
              <a:rPr lang="en-IN" b="1" dirty="0"/>
              <a:t>React.js, Node.js, Express.js, MongoDB, and AI APIs</a:t>
            </a:r>
            <a:r>
              <a:rPr lang="en-IN" dirty="0"/>
              <a:t> for the required web platform. </a:t>
            </a:r>
          </a:p>
          <a:p>
            <a:pPr lvl="0"/>
            <a:r>
              <a:rPr lang="en-IN" b="1" dirty="0"/>
              <a:t>Docker and Kubernetes</a:t>
            </a:r>
            <a:r>
              <a:rPr lang="en-IN" dirty="0"/>
              <a:t> enable containerized and modular deployment. </a:t>
            </a:r>
          </a:p>
          <a:p>
            <a:pPr lvl="0"/>
            <a:r>
              <a:rPr lang="en-IN" b="1" dirty="0"/>
              <a:t>AWS EKS</a:t>
            </a:r>
            <a:r>
              <a:rPr lang="en-IN" dirty="0"/>
              <a:t> provides a suitable cloud environment for </a:t>
            </a:r>
            <a:r>
              <a:rPr lang="en-IN" b="1" dirty="0"/>
              <a:t>deployment and scaling</a:t>
            </a:r>
            <a:r>
              <a:rPr lang="en-IN" dirty="0"/>
              <a:t>. </a:t>
            </a:r>
          </a:p>
          <a:p>
            <a:pPr lvl="0"/>
            <a:endParaRPr lang="en-IN" dirty="0"/>
          </a:p>
          <a:p>
            <a:r>
              <a:rPr lang="en-IN" b="1" dirty="0"/>
              <a:t>Operational Feasibility</a:t>
            </a:r>
          </a:p>
          <a:p>
            <a:pPr lvl="0"/>
            <a:r>
              <a:rPr lang="en-IN" dirty="0"/>
              <a:t>Provides a </a:t>
            </a:r>
            <a:r>
              <a:rPr lang="en-IN" b="1" dirty="0"/>
              <a:t>centralized interface</a:t>
            </a:r>
            <a:r>
              <a:rPr lang="en-IN" dirty="0"/>
              <a:t> for students and researchers to discover and understand research papers. </a:t>
            </a:r>
          </a:p>
          <a:p>
            <a:pPr lvl="0"/>
            <a:r>
              <a:rPr lang="en-IN" b="1" dirty="0"/>
              <a:t>AI summaries, keywords, insights, recommendations, bookmarks, and search history</a:t>
            </a:r>
            <a:r>
              <a:rPr lang="en-IN" dirty="0"/>
              <a:t> support practical research workflows. </a:t>
            </a:r>
          </a:p>
          <a:p>
            <a:pPr lvl="0"/>
            <a:endParaRPr lang="en-IN" dirty="0"/>
          </a:p>
          <a:p>
            <a:r>
              <a:rPr lang="en-IN" b="1" dirty="0"/>
              <a:t>Economic Feasibility</a:t>
            </a:r>
          </a:p>
          <a:p>
            <a:pPr lvl="0"/>
            <a:r>
              <a:rPr lang="en-IN" dirty="0"/>
              <a:t>Uses </a:t>
            </a:r>
            <a:r>
              <a:rPr lang="en-IN" b="1" dirty="0"/>
              <a:t>open-source technologies and APIs</a:t>
            </a:r>
            <a:r>
              <a:rPr lang="en-IN" dirty="0"/>
              <a:t>, helping reduce development costs. </a:t>
            </a:r>
          </a:p>
          <a:p>
            <a:pPr lvl="0"/>
            <a:r>
              <a:rPr lang="en-IN" b="1" dirty="0"/>
              <a:t>Cloud resources can scale according to workload</a:t>
            </a:r>
            <a:r>
              <a:rPr lang="en-IN" dirty="0"/>
              <a:t>, avoiding dedicated physical infrastructure. </a:t>
            </a:r>
          </a:p>
          <a:p>
            <a:pPr lvl="0"/>
            <a:endParaRPr lang="en-IN" dirty="0"/>
          </a:p>
          <a:p>
            <a:r>
              <a:rPr lang="en-IN" b="1" dirty="0"/>
              <a:t>Implementation Feasibility</a:t>
            </a:r>
          </a:p>
          <a:p>
            <a:pPr lvl="0"/>
            <a:r>
              <a:rPr lang="en-IN" dirty="0"/>
              <a:t>Can be developed incrementally using </a:t>
            </a:r>
            <a:r>
              <a:rPr lang="en-IN" b="1" dirty="0"/>
              <a:t>independent services</a:t>
            </a:r>
            <a:r>
              <a:rPr lang="en-IN" dirty="0"/>
              <a:t>, simplifying development and maintenance. </a:t>
            </a:r>
          </a:p>
          <a:p>
            <a:pPr lvl="0"/>
            <a:r>
              <a:rPr lang="en-IN" b="1" dirty="0"/>
              <a:t>GitHub Actions, Argo CD, </a:t>
            </a:r>
            <a:r>
              <a:rPr lang="en-IN" b="1" dirty="0" err="1"/>
              <a:t>Trivy</a:t>
            </a:r>
            <a:r>
              <a:rPr lang="en-IN" b="1" dirty="0"/>
              <a:t>, Prometheus, and Grafana</a:t>
            </a:r>
            <a:r>
              <a:rPr lang="en-IN" dirty="0"/>
              <a:t> support deployment, security, and monitoring.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971D25F-D310-56FA-A58E-B7B79C7D85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9AFF3A1-5C1B-139E-D79A-72B8847801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F6ED1E-D5CF-4737-9463-A65281469B97}" type="datetime1">
              <a:rPr lang="en-US" smtClean="0"/>
              <a:t>8/28/2026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7EC70D-1363-E80E-D957-B7196CB13A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CNAD Project Review-1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51C404-5E3A-5943-D47B-EDA9706D29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9</a:t>
            </a:fld>
            <a:endParaRPr lang="en-US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DA611A3-C40B-C4D0-FC5B-A6E3CFDFC96B}"/>
              </a:ext>
            </a:extLst>
          </p:cNvPr>
          <p:cNvSpPr/>
          <p:nvPr/>
        </p:nvSpPr>
        <p:spPr>
          <a:xfrm>
            <a:off x="2457651" y="136525"/>
            <a:ext cx="6303999" cy="708443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Feasibility </a:t>
            </a:r>
          </a:p>
        </p:txBody>
      </p:sp>
    </p:spTree>
    <p:extLst>
      <p:ext uri="{BB962C8B-B14F-4D97-AF65-F5344CB8AC3E}">
        <p14:creationId xmlns:p14="http://schemas.microsoft.com/office/powerpoint/2010/main" val="41188552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20AC33-E891-5ED7-55F2-57D62B8C39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CBC271F-B3F8-72E9-F9F9-E762BC3410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6B19C68-78AD-FDB4-997F-D8F8D1C6D6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F6ED1E-D5CF-4737-9463-A65281469B97}" type="datetime1">
              <a:rPr lang="en-US" smtClean="0"/>
              <a:t>8/28/2026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7BEDF61-DA79-9275-045D-33E0F89D66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CNAD Project Review-1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73D0AB2-4FBB-989B-65F6-29B626AA3E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10</a:t>
            </a:fld>
            <a:endParaRPr lang="en-US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3F662F57-2609-3FDD-F2AB-DB411C241B2E}"/>
              </a:ext>
            </a:extLst>
          </p:cNvPr>
          <p:cNvSpPr/>
          <p:nvPr/>
        </p:nvSpPr>
        <p:spPr>
          <a:xfrm>
            <a:off x="2682240" y="136525"/>
            <a:ext cx="6303999" cy="708443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Plan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A9BB9CA-8E2C-F84A-E2CB-E99D4BE8CB83}"/>
              </a:ext>
            </a:extLst>
          </p:cNvPr>
          <p:cNvSpPr txBox="1"/>
          <p:nvPr/>
        </p:nvSpPr>
        <p:spPr>
          <a:xfrm>
            <a:off x="755984" y="1183600"/>
            <a:ext cx="10680032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IN" b="1" dirty="0"/>
              <a:t>Phase 1 – Requirement Analysis &amp; Literature Survey</a:t>
            </a:r>
            <a:br>
              <a:rPr lang="en-IN" dirty="0"/>
            </a:br>
            <a:r>
              <a:rPr lang="en-IN" dirty="0"/>
              <a:t>Define the problem, objectives, system requirements, and study existing research-discovery and cloud-native approaches. </a:t>
            </a:r>
          </a:p>
          <a:p>
            <a:pPr lvl="0"/>
            <a:r>
              <a:rPr lang="en-IN" b="1" dirty="0"/>
              <a:t>Phase 2 – System Design &amp; Architecture</a:t>
            </a:r>
            <a:br>
              <a:rPr lang="en-IN" dirty="0"/>
            </a:br>
            <a:r>
              <a:rPr lang="en-IN" dirty="0"/>
              <a:t>Design the </a:t>
            </a:r>
            <a:r>
              <a:rPr lang="en-IN" b="1" dirty="0"/>
              <a:t>cloud-native microservices architecture</a:t>
            </a:r>
            <a:r>
              <a:rPr lang="en-IN" dirty="0"/>
              <a:t>, database structure, API flow, and overall system workflow. </a:t>
            </a:r>
          </a:p>
          <a:p>
            <a:pPr lvl="0"/>
            <a:r>
              <a:rPr lang="en-IN" b="1" dirty="0"/>
              <a:t>Phase 3 – AI &amp; Research Discovery Development</a:t>
            </a:r>
            <a:br>
              <a:rPr lang="en-IN" dirty="0"/>
            </a:br>
            <a:r>
              <a:rPr lang="en-IN" dirty="0"/>
              <a:t>Implement </a:t>
            </a:r>
            <a:r>
              <a:rPr lang="en-IN" b="1" dirty="0"/>
              <a:t>research-paper search, AI summarization, keyword extraction, research insights, and related-paper recommendations</a:t>
            </a:r>
            <a:r>
              <a:rPr lang="en-IN" dirty="0"/>
              <a:t>. </a:t>
            </a:r>
          </a:p>
          <a:p>
            <a:pPr lvl="0"/>
            <a:r>
              <a:rPr lang="en-IN" b="1" dirty="0"/>
              <a:t>Phase 4 – Cloud-Native Development &amp; Containerization</a:t>
            </a:r>
            <a:br>
              <a:rPr lang="en-IN" dirty="0"/>
            </a:br>
            <a:r>
              <a:rPr lang="en-IN" dirty="0"/>
              <a:t>Develop backend/frontend services and containerize them using </a:t>
            </a:r>
            <a:r>
              <a:rPr lang="en-IN" b="1" dirty="0"/>
              <a:t>Docker</a:t>
            </a:r>
            <a:r>
              <a:rPr lang="en-IN" dirty="0"/>
              <a:t>, followed by Kubernetes deployment configuration. </a:t>
            </a:r>
          </a:p>
          <a:p>
            <a:pPr lvl="0"/>
            <a:r>
              <a:rPr lang="en-IN" b="1" dirty="0"/>
              <a:t>Phase 5 – CI/CD, </a:t>
            </a:r>
            <a:r>
              <a:rPr lang="en-IN" b="1" dirty="0" err="1"/>
              <a:t>GitOps</a:t>
            </a:r>
            <a:r>
              <a:rPr lang="en-IN" b="1" dirty="0"/>
              <a:t>, Security &amp; Monitoring</a:t>
            </a:r>
            <a:br>
              <a:rPr lang="en-IN" dirty="0"/>
            </a:br>
            <a:r>
              <a:rPr lang="en-IN" dirty="0"/>
              <a:t>Implement </a:t>
            </a:r>
            <a:r>
              <a:rPr lang="en-IN" b="1" dirty="0"/>
              <a:t>GitHub Actions, Helm, Argo CD, </a:t>
            </a:r>
            <a:r>
              <a:rPr lang="en-IN" b="1" dirty="0" err="1"/>
              <a:t>Trivy</a:t>
            </a:r>
            <a:r>
              <a:rPr lang="en-IN" b="1" dirty="0"/>
              <a:t>, Prometheus, and Grafana</a:t>
            </a:r>
            <a:r>
              <a:rPr lang="en-IN" dirty="0"/>
              <a:t> for automated deployment, security, and monitoring. </a:t>
            </a:r>
          </a:p>
          <a:p>
            <a:pPr lvl="0"/>
            <a:r>
              <a:rPr lang="en-IN" b="1" dirty="0"/>
              <a:t>Phase 6 – AWS Deployment, Testing &amp; Evaluation</a:t>
            </a:r>
            <a:br>
              <a:rPr lang="en-IN" dirty="0"/>
            </a:br>
            <a:r>
              <a:rPr lang="en-IN" dirty="0"/>
              <a:t>Deploy the application on </a:t>
            </a:r>
            <a:r>
              <a:rPr lang="en-IN" b="1" dirty="0"/>
              <a:t>AWS EKS</a:t>
            </a:r>
            <a:r>
              <a:rPr lang="en-IN" dirty="0"/>
              <a:t>, perform functional and deployment testing, evaluate scalability/reliability, and finalize the project.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671884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160857-3A88-9FAC-D593-807CBD187C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57F7B94-CBA6-9F64-ED13-3D567056C7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DB9DE2C-EF9F-3897-A650-085E6A0B08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F6ED1E-D5CF-4737-9463-A65281469B97}" type="datetime1">
              <a:rPr lang="en-US" smtClean="0"/>
              <a:t>8/28/2026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2BCB6AF-E122-5644-D1A5-AC731D287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CNAD Project Review-1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924FB8E-FC42-6BDD-F83B-3A7B171AFC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11</a:t>
            </a:fld>
            <a:endParaRPr lang="en-US"/>
          </a:p>
        </p:txBody>
      </p:sp>
      <p:graphicFrame>
        <p:nvGraphicFramePr>
          <p:cNvPr id="8" name="Content Placeholder 10">
            <a:extLst>
              <a:ext uri="{FF2B5EF4-FFF2-40B4-BE49-F238E27FC236}">
                <a16:creationId xmlns:a16="http://schemas.microsoft.com/office/drawing/2014/main" id="{BF1B0A5B-360C-0BBE-51A7-19366AA39F2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818841737"/>
              </p:ext>
            </p:extLst>
          </p:nvPr>
        </p:nvGraphicFramePr>
        <p:xfrm>
          <a:off x="710661" y="831418"/>
          <a:ext cx="10770677" cy="491846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13592">
                  <a:extLst>
                    <a:ext uri="{9D8B030D-6E8A-4147-A177-3AD203B41FA5}">
                      <a16:colId xmlns:a16="http://schemas.microsoft.com/office/drawing/2014/main" val="865632583"/>
                    </a:ext>
                  </a:extLst>
                </a:gridCol>
                <a:gridCol w="5024535">
                  <a:extLst>
                    <a:ext uri="{9D8B030D-6E8A-4147-A177-3AD203B41FA5}">
                      <a16:colId xmlns:a16="http://schemas.microsoft.com/office/drawing/2014/main" val="2856754256"/>
                    </a:ext>
                  </a:extLst>
                </a:gridCol>
                <a:gridCol w="4632550">
                  <a:extLst>
                    <a:ext uri="{9D8B030D-6E8A-4147-A177-3AD203B41FA5}">
                      <a16:colId xmlns:a16="http://schemas.microsoft.com/office/drawing/2014/main" val="3992791816"/>
                    </a:ext>
                  </a:extLst>
                </a:gridCol>
              </a:tblGrid>
              <a:tr h="42609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/>
                        <a:t>Phase</a:t>
                      </a:r>
                      <a:endParaRPr lang="en-IN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/>
                        <a:t>Activity</a:t>
                      </a:r>
                      <a:endParaRPr lang="en-IN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/>
                        <a:t>Current Status / Output</a:t>
                      </a:r>
                      <a:endParaRPr lang="en-IN" sz="14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34510404"/>
                  </a:ext>
                </a:extLst>
              </a:tr>
              <a:tr h="73545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/>
                        <a:t>Phase 1</a:t>
                      </a:r>
                      <a:endParaRPr lang="en-IN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dirty="0"/>
                        <a:t>Literature Survey &amp; Requirement Analysis</a:t>
                      </a:r>
                      <a:endParaRPr lang="en-IN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/>
                        <a:t>Completed</a:t>
                      </a:r>
                      <a:r>
                        <a:rPr lang="en-IN" sz="1400"/>
                        <a:t> – Literature reviewed, problem identified, requirements and objectives defined.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34812841"/>
                  </a:ext>
                </a:extLst>
              </a:tr>
              <a:tr h="4202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/>
                        <a:t>Phase 2</a:t>
                      </a:r>
                      <a:endParaRPr lang="en-IN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/>
                        <a:t>System Architecture &amp; UI Design</a:t>
                      </a:r>
                      <a:endParaRPr lang="en-IN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/>
                        <a:t>Completed</a:t>
                      </a:r>
                      <a:r>
                        <a:rPr lang="en-IN" sz="1400"/>
                        <a:t> – Cloud-native architecture, microservices structure and application workflow designed.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78198534"/>
                  </a:ext>
                </a:extLst>
              </a:tr>
              <a:tr h="73545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/>
                        <a:t>Phase 3</a:t>
                      </a:r>
                      <a:endParaRPr lang="en-IN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/>
                        <a:t>Research Paper Discovery &amp; API Integration</a:t>
                      </a:r>
                      <a:endParaRPr lang="en-IN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/>
                        <a:t>Implemented</a:t>
                      </a:r>
                      <a:r>
                        <a:rPr lang="en-IN" sz="1400"/>
                        <a:t> – Research-paper search and external research API integration established.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07565806"/>
                  </a:ext>
                </a:extLst>
              </a:tr>
              <a:tr h="42609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/>
                        <a:t>Phase 4</a:t>
                      </a:r>
                      <a:endParaRPr lang="en-IN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/>
                        <a:t>AI Research Analysis Development</a:t>
                      </a:r>
                      <a:endParaRPr lang="en-IN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/>
                        <a:t>Implemented</a:t>
                      </a:r>
                      <a:r>
                        <a:rPr lang="en-IN" sz="1400"/>
                        <a:t> – AI-based </a:t>
                      </a:r>
                      <a:r>
                        <a:rPr lang="en-IN" sz="1400" b="1"/>
                        <a:t>summarization, keyword extraction, research insights and related-paper recommendations</a:t>
                      </a:r>
                      <a:r>
                        <a:rPr lang="en-IN" sz="1400"/>
                        <a:t> developed.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14477876"/>
                  </a:ext>
                </a:extLst>
              </a:tr>
              <a:tr h="73545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/>
                        <a:t>Phase 5</a:t>
                      </a:r>
                      <a:endParaRPr lang="en-IN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/>
                        <a:t>Docker &amp; Kubernetes Deployment</a:t>
                      </a:r>
                      <a:endParaRPr lang="en-IN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dirty="0"/>
                        <a:t>In Progress</a:t>
                      </a:r>
                      <a:r>
                        <a:rPr lang="en-IN" sz="1400" dirty="0"/>
                        <a:t> – Application services containerized using </a:t>
                      </a:r>
                      <a:r>
                        <a:rPr lang="en-IN" sz="1400" b="1" dirty="0"/>
                        <a:t>Docker</a:t>
                      </a:r>
                      <a:r>
                        <a:rPr lang="en-IN" sz="1400" dirty="0"/>
                        <a:t> and Kubernetes deployment configured.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73361741"/>
                  </a:ext>
                </a:extLst>
              </a:tr>
              <a:tr h="42609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/>
                        <a:t>Phase 6</a:t>
                      </a:r>
                      <a:endParaRPr lang="en-IN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/>
                        <a:t>CI/CD, GitOps, Security &amp; Monitoring</a:t>
                      </a:r>
                      <a:endParaRPr lang="en-IN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/>
                        <a:t>Planned / In Progress</a:t>
                      </a:r>
                      <a:r>
                        <a:rPr lang="en-IN" sz="1400"/>
                        <a:t> – </a:t>
                      </a:r>
                      <a:r>
                        <a:rPr lang="en-IN" sz="1400" b="1"/>
                        <a:t>GitHub Actions, Helm, Argo CD, Trivy, Prometheus and Grafana</a:t>
                      </a:r>
                      <a:r>
                        <a:rPr lang="en-IN" sz="1400"/>
                        <a:t> integration.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86513394"/>
                  </a:ext>
                </a:extLst>
              </a:tr>
              <a:tr h="42609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/>
                        <a:t>Phase 7</a:t>
                      </a:r>
                      <a:endParaRPr lang="en-IN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/>
                        <a:t>AWS Deployment, Testing &amp; Final Demonstration</a:t>
                      </a:r>
                      <a:endParaRPr lang="en-IN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dirty="0"/>
                        <a:t>Planned</a:t>
                      </a:r>
                      <a:r>
                        <a:rPr lang="en-IN" sz="1400" dirty="0"/>
                        <a:t> – Deploy on </a:t>
                      </a:r>
                      <a:r>
                        <a:rPr lang="en-IN" sz="1400" b="1" dirty="0"/>
                        <a:t>AWS EKS</a:t>
                      </a:r>
                      <a:r>
                        <a:rPr lang="en-IN" sz="1400" dirty="0"/>
                        <a:t>, perform testing, evaluate scalability/reliability and complete final demonstration.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8365406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919394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101</TotalTime>
  <Words>1457</Words>
  <Application>Microsoft Office PowerPoint</Application>
  <PresentationFormat>Widescreen</PresentationFormat>
  <Paragraphs>183</Paragraphs>
  <Slides>11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11</vt:i4>
      </vt:variant>
    </vt:vector>
  </HeadingPairs>
  <TitlesOfParts>
    <vt:vector size="19" baseType="lpstr">
      <vt:lpstr>Aptos</vt:lpstr>
      <vt:lpstr>Aptos Display</vt:lpstr>
      <vt:lpstr>Arial</vt:lpstr>
      <vt:lpstr>Calibri</vt:lpstr>
      <vt:lpstr>Calibri Light</vt:lpstr>
      <vt:lpstr>Times New Roman</vt:lpstr>
      <vt:lpstr>Office Theme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akshay</dc:creator>
  <cp:lastModifiedBy>Akshay Saladi</cp:lastModifiedBy>
  <cp:revision>37</cp:revision>
  <dcterms:created xsi:type="dcterms:W3CDTF">2026-08-08T06:33:56Z</dcterms:created>
  <dcterms:modified xsi:type="dcterms:W3CDTF">2026-08-28T03:43:55Z</dcterms:modified>
</cp:coreProperties>
</file>