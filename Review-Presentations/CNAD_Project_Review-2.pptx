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0"/>
  </p:notesMasterIdLst>
  <p:sldIdLst>
    <p:sldId id="262" r:id="rId3"/>
    <p:sldId id="707" r:id="rId4"/>
    <p:sldId id="257" r:id="rId5"/>
    <p:sldId id="903" r:id="rId6"/>
    <p:sldId id="902" r:id="rId7"/>
    <p:sldId id="258" r:id="rId8"/>
    <p:sldId id="904" r:id="rId9"/>
    <p:sldId id="259" r:id="rId10"/>
    <p:sldId id="908" r:id="rId11"/>
    <p:sldId id="909" r:id="rId12"/>
    <p:sldId id="910" r:id="rId13"/>
    <p:sldId id="911" r:id="rId14"/>
    <p:sldId id="912" r:id="rId15"/>
    <p:sldId id="260" r:id="rId16"/>
    <p:sldId id="906" r:id="rId17"/>
    <p:sldId id="905" r:id="rId18"/>
    <p:sldId id="91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B120FF9-22BA-4750-912E-94480D09598C}" type="datetime4">
              <a:rPr lang="en-US" smtClean="0"/>
              <a:t>September 22, 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3788BEA8-B4F4-4D5C-988D-6F13B2B624A1}" type="datetime4">
              <a:rPr lang="en-US" smtClean="0"/>
              <a:t>September 22, 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06DDD0C9-27B4-491A-8181-85BF5F6830E8}" type="datetime4">
              <a:rPr lang="en-US" smtClean="0"/>
              <a:t>September 22, 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5EBD8DE5-5412-443B-877D-A83E5481310E}" type="datetime4">
              <a:rPr lang="en-US" smtClean="0"/>
              <a:t>September 22, 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CNAD Project Review-2</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18E426D3-843A-462E-81BC-1E65B329D6CA}" type="datetime4">
              <a:rPr lang="en-US" smtClean="0"/>
              <a:t>September 22, 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CNAD Project Review-2</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2FDA19E8-E577-40F6-8914-73E7C0CD2BE1}" type="datetime4">
              <a:rPr lang="en-US" smtClean="0"/>
              <a:t>September 22, 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CNAD Project Review-2</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9D111484-8254-4818-B956-B01FC4C0B0D3}" type="datetime4">
              <a:rPr lang="en-US" smtClean="0"/>
              <a:t>September 22, 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CNAD Project Review-2</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59145F0-02EC-45B1-ACFD-A5D64CFBE72B}" type="datetime4">
              <a:rPr lang="en-US" smtClean="0"/>
              <a:t>September 22, 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CNAD Project Review-2</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99CF23ED-C7E3-41C6-A6B8-8BDC1357AC32}" type="datetime4">
              <a:rPr lang="en-US" smtClean="0"/>
              <a:t>September 22, 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CNAD Project Review-2</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D156BDF6-9078-48A3-AE9B-46EC6D4B8D04}" type="datetime4">
              <a:rPr lang="en-US" smtClean="0"/>
              <a:t>September 22, 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37C38438-2EEA-427F-9B2C-957CEE28F88C}" type="datetime4">
              <a:rPr lang="en-US" smtClean="0"/>
              <a:t>September 22, 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512F25-2E11-4620-BECD-A39E227C02DA}" type="datetime4">
              <a:rPr lang="en-US" smtClean="0"/>
              <a:t>September 22, 2026</a:t>
            </a:fld>
            <a:endParaRPr lang="en-IN"/>
          </a:p>
        </p:txBody>
      </p:sp>
      <p:sp>
        <p:nvSpPr>
          <p:cNvPr id="5" name="Footer Placeholder 4"/>
          <p:cNvSpPr>
            <a:spLocks noGrp="1"/>
          </p:cNvSpPr>
          <p:nvPr>
            <p:ph type="ftr" sz="quarter" idx="11"/>
          </p:nvPr>
        </p:nvSpPr>
        <p:spPr/>
        <p:txBody>
          <a:bodyPr/>
          <a:lstStyle/>
          <a:p>
            <a:r>
              <a:rPr lang="en-IN"/>
              <a:t>CNAD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B00CD0-5262-4F45-A2B5-980685446E92}" type="datetime4">
              <a:rPr lang="en-US" smtClean="0"/>
              <a:t>September 22, 2026</a:t>
            </a:fld>
            <a:endParaRPr lang="en-IN"/>
          </a:p>
        </p:txBody>
      </p:sp>
      <p:sp>
        <p:nvSpPr>
          <p:cNvPr id="5" name="Footer Placeholder 4"/>
          <p:cNvSpPr>
            <a:spLocks noGrp="1"/>
          </p:cNvSpPr>
          <p:nvPr>
            <p:ph type="ftr" sz="quarter" idx="11"/>
          </p:nvPr>
        </p:nvSpPr>
        <p:spPr/>
        <p:txBody>
          <a:bodyPr/>
          <a:lstStyle/>
          <a:p>
            <a:r>
              <a:rPr lang="en-IN"/>
              <a:t>CNAD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C185AF-26C0-4E1F-92D9-6146FCB58862}" type="datetime4">
              <a:rPr lang="en-US" smtClean="0"/>
              <a:t>September 22, 2026</a:t>
            </a:fld>
            <a:endParaRPr lang="en-IN"/>
          </a:p>
        </p:txBody>
      </p:sp>
      <p:sp>
        <p:nvSpPr>
          <p:cNvPr id="5" name="Footer Placeholder 4"/>
          <p:cNvSpPr>
            <a:spLocks noGrp="1"/>
          </p:cNvSpPr>
          <p:nvPr>
            <p:ph type="ftr" sz="quarter" idx="11"/>
          </p:nvPr>
        </p:nvSpPr>
        <p:spPr/>
        <p:txBody>
          <a:bodyPr/>
          <a:lstStyle/>
          <a:p>
            <a:r>
              <a:rPr lang="en-IN"/>
              <a:t>CNAD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80B38C-D6D8-44C6-ACF1-34F10FAA1252}" type="datetime4">
              <a:rPr lang="en-US" smtClean="0"/>
              <a:t>September 22, 2026</a:t>
            </a:fld>
            <a:endParaRPr lang="en-IN"/>
          </a:p>
        </p:txBody>
      </p:sp>
      <p:sp>
        <p:nvSpPr>
          <p:cNvPr id="6" name="Footer Placeholder 5"/>
          <p:cNvSpPr>
            <a:spLocks noGrp="1"/>
          </p:cNvSpPr>
          <p:nvPr>
            <p:ph type="ftr" sz="quarter" idx="11"/>
          </p:nvPr>
        </p:nvSpPr>
        <p:spPr/>
        <p:txBody>
          <a:bodyPr/>
          <a:lstStyle/>
          <a:p>
            <a:r>
              <a:rPr lang="en-IN"/>
              <a:t>CNAD Project Review-2</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743E76-F681-406C-8DB4-E8395CF26D4F}" type="datetime4">
              <a:rPr lang="en-US" smtClean="0"/>
              <a:t>September 22, 2026</a:t>
            </a:fld>
            <a:endParaRPr lang="en-IN"/>
          </a:p>
        </p:txBody>
      </p:sp>
      <p:sp>
        <p:nvSpPr>
          <p:cNvPr id="8" name="Footer Placeholder 7"/>
          <p:cNvSpPr>
            <a:spLocks noGrp="1"/>
          </p:cNvSpPr>
          <p:nvPr>
            <p:ph type="ftr" sz="quarter" idx="11"/>
          </p:nvPr>
        </p:nvSpPr>
        <p:spPr/>
        <p:txBody>
          <a:bodyPr/>
          <a:lstStyle/>
          <a:p>
            <a:r>
              <a:rPr lang="en-IN"/>
              <a:t>CNAD Project Review-2</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D665C2-E979-4A9F-B231-C254D0FDB8FD}" type="datetime4">
              <a:rPr lang="en-US" smtClean="0"/>
              <a:t>September 22, 2026</a:t>
            </a:fld>
            <a:endParaRPr lang="en-IN"/>
          </a:p>
        </p:txBody>
      </p:sp>
      <p:sp>
        <p:nvSpPr>
          <p:cNvPr id="4" name="Footer Placeholder 3"/>
          <p:cNvSpPr>
            <a:spLocks noGrp="1"/>
          </p:cNvSpPr>
          <p:nvPr>
            <p:ph type="ftr" sz="quarter" idx="11"/>
          </p:nvPr>
        </p:nvSpPr>
        <p:spPr/>
        <p:txBody>
          <a:bodyPr/>
          <a:lstStyle/>
          <a:p>
            <a:r>
              <a:rPr lang="en-IN"/>
              <a:t>CNAD Project Review-2</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5E71B4-7D70-45B4-A486-EA2A5ABB665F}" type="datetime4">
              <a:rPr lang="en-US" smtClean="0"/>
              <a:t>September 22, 2026</a:t>
            </a:fld>
            <a:endParaRPr lang="en-IN"/>
          </a:p>
        </p:txBody>
      </p:sp>
      <p:sp>
        <p:nvSpPr>
          <p:cNvPr id="3" name="Footer Placeholder 2"/>
          <p:cNvSpPr>
            <a:spLocks noGrp="1"/>
          </p:cNvSpPr>
          <p:nvPr>
            <p:ph type="ftr" sz="quarter" idx="11"/>
          </p:nvPr>
        </p:nvSpPr>
        <p:spPr/>
        <p:txBody>
          <a:bodyPr/>
          <a:lstStyle/>
          <a:p>
            <a:r>
              <a:rPr lang="en-IN"/>
              <a:t>CNAD Project Review-2</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6FAB16-F507-4F80-9781-95A576397A10}" type="datetime4">
              <a:rPr lang="en-US" smtClean="0"/>
              <a:t>September 22, 2026</a:t>
            </a:fld>
            <a:endParaRPr lang="en-IN"/>
          </a:p>
        </p:txBody>
      </p:sp>
      <p:sp>
        <p:nvSpPr>
          <p:cNvPr id="6" name="Footer Placeholder 5"/>
          <p:cNvSpPr>
            <a:spLocks noGrp="1"/>
          </p:cNvSpPr>
          <p:nvPr>
            <p:ph type="ftr" sz="quarter" idx="11"/>
          </p:nvPr>
        </p:nvSpPr>
        <p:spPr/>
        <p:txBody>
          <a:bodyPr/>
          <a:lstStyle/>
          <a:p>
            <a:r>
              <a:rPr lang="en-IN"/>
              <a:t>CNAD Project Review-2</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43C6A8-1543-4689-BF82-7C56ADB70827}" type="datetime4">
              <a:rPr lang="en-US" smtClean="0"/>
              <a:t>September 22, 2026</a:t>
            </a:fld>
            <a:endParaRPr lang="en-IN"/>
          </a:p>
        </p:txBody>
      </p:sp>
      <p:sp>
        <p:nvSpPr>
          <p:cNvPr id="6" name="Footer Placeholder 5"/>
          <p:cNvSpPr>
            <a:spLocks noGrp="1"/>
          </p:cNvSpPr>
          <p:nvPr>
            <p:ph type="ftr" sz="quarter" idx="11"/>
          </p:nvPr>
        </p:nvSpPr>
        <p:spPr/>
        <p:txBody>
          <a:bodyPr/>
          <a:lstStyle/>
          <a:p>
            <a:r>
              <a:rPr lang="en-IN"/>
              <a:t>CNAD Project Review-2</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281A94-52A3-4182-8181-D17470405AFB}" type="datetime4">
              <a:rPr lang="en-US" smtClean="0"/>
              <a:t>September 22, 2026</a:t>
            </a:fld>
            <a:endParaRPr lang="en-IN"/>
          </a:p>
        </p:txBody>
      </p:sp>
      <p:sp>
        <p:nvSpPr>
          <p:cNvPr id="5" name="Footer Placeholder 4"/>
          <p:cNvSpPr>
            <a:spLocks noGrp="1"/>
          </p:cNvSpPr>
          <p:nvPr>
            <p:ph type="ftr" sz="quarter" idx="11"/>
          </p:nvPr>
        </p:nvSpPr>
        <p:spPr/>
        <p:txBody>
          <a:bodyPr/>
          <a:lstStyle/>
          <a:p>
            <a:r>
              <a:rPr lang="en-IN"/>
              <a:t>CNAD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34CE1F-65BC-4A30-83AB-C12798FB200D}" type="datetime4">
              <a:rPr lang="en-US" smtClean="0"/>
              <a:t>September 22, 2026</a:t>
            </a:fld>
            <a:endParaRPr lang="en-IN"/>
          </a:p>
        </p:txBody>
      </p:sp>
      <p:sp>
        <p:nvSpPr>
          <p:cNvPr id="5" name="Footer Placeholder 4"/>
          <p:cNvSpPr>
            <a:spLocks noGrp="1"/>
          </p:cNvSpPr>
          <p:nvPr>
            <p:ph type="ftr" sz="quarter" idx="11"/>
          </p:nvPr>
        </p:nvSpPr>
        <p:spPr/>
        <p:txBody>
          <a:bodyPr/>
          <a:lstStyle/>
          <a:p>
            <a:r>
              <a:rPr lang="en-IN"/>
              <a:t>CNAD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34B89D-8C42-4BF4-8999-510355871E22}" type="datetime4">
              <a:rPr lang="en-US" smtClean="0"/>
              <a:t>September 22, 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CNAD Project Review-2</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04445C-8852-4201-B212-291C955B974F}" type="datetime4">
              <a:rPr lang="en-US" smtClean="0"/>
              <a:t>September 22,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CNAD Project Review-2</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895600" y="2627115"/>
            <a:ext cx="6200774" cy="769441"/>
          </a:xfrm>
          <a:prstGeom prst="rect">
            <a:avLst/>
          </a:prstGeom>
          <a:noFill/>
          <a:effectLst>
            <a:glow rad="139700">
              <a:schemeClr val="accent2">
                <a:satMod val="175000"/>
                <a:alpha val="40000"/>
              </a:schemeClr>
            </a:glow>
          </a:effectLst>
        </p:spPr>
        <p:txBody>
          <a:bodyPr wrap="square">
            <a:spAutoFit/>
          </a:bodyPr>
          <a:lstStyle/>
          <a:p>
            <a:pPr algn="ctr"/>
            <a:endParaRPr lang="en-IN" sz="2200" dirty="0">
              <a:latin typeface="Times New Roman" panose="02020603050405020304" pitchFamily="18" charset="0"/>
              <a:cs typeface="Times New Roman" panose="02020603050405020304" pitchFamily="18" charset="0"/>
            </a:endParaRPr>
          </a:p>
          <a:p>
            <a:pPr algn="ctr"/>
            <a:r>
              <a:rPr lang="en-IN" sz="2200" b="1" dirty="0">
                <a:solidFill>
                  <a:srgbClr val="FF0000"/>
                </a:solidFill>
                <a:latin typeface="Times New Roman" panose="02020603050405020304" pitchFamily="18" charset="0"/>
                <a:cs typeface="Times New Roman" panose="02020603050405020304" pitchFamily="18" charset="0"/>
              </a:rPr>
              <a:t>Wednesday, September 23</a:t>
            </a:r>
            <a:r>
              <a:rPr lang="en-IN" sz="2200" b="1" baseline="30000" dirty="0">
                <a:solidFill>
                  <a:srgbClr val="FF0000"/>
                </a:solidFill>
                <a:latin typeface="Times New Roman" panose="02020603050405020304" pitchFamily="18" charset="0"/>
                <a:cs typeface="Times New Roman" panose="02020603050405020304" pitchFamily="18" charset="0"/>
              </a:rPr>
              <a:t>th</a:t>
            </a:r>
            <a:r>
              <a:rPr lang="en-IN" sz="22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693811938"/>
              </p:ext>
            </p:extLst>
          </p:nvPr>
        </p:nvGraphicFramePr>
        <p:xfrm>
          <a:off x="8193271" y="4898509"/>
          <a:ext cx="3702050" cy="17373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12421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b="1" dirty="0">
                        <a:solidFill>
                          <a:srgbClr val="C00000"/>
                        </a:solidFill>
                        <a:latin typeface="Times New Roman" panose="02020603050405020304" pitchFamily="18" charset="0"/>
                        <a:cs typeface="Times New Roman" panose="02020603050405020304" pitchFamily="18" charset="0"/>
                      </a:endParaRPr>
                    </a:p>
                    <a:p>
                      <a:pPr marL="0" algn="l" defTabSz="914400" rtl="0" eaLnBrk="1" latinLnBrk="0" hangingPunct="1"/>
                      <a:r>
                        <a:rPr lang="en-IN" sz="1600" b="1" kern="1200" dirty="0" err="1">
                          <a:solidFill>
                            <a:schemeClr val="dk1"/>
                          </a:solidFill>
                          <a:latin typeface="Times New Roman" panose="02020603050405020304" pitchFamily="18" charset="0"/>
                          <a:ea typeface="Cambria"/>
                          <a:cs typeface="Times New Roman" panose="02020603050405020304" pitchFamily="18" charset="0"/>
                        </a:rPr>
                        <a:t>B.Akhil</a:t>
                      </a:r>
                      <a:r>
                        <a:rPr lang="en-IN" sz="1600" b="1" kern="1200" dirty="0">
                          <a:solidFill>
                            <a:schemeClr val="dk1"/>
                          </a:solidFill>
                          <a:latin typeface="Times New Roman" panose="02020603050405020304" pitchFamily="18" charset="0"/>
                          <a:ea typeface="Cambria"/>
                          <a:cs typeface="Times New Roman" panose="02020603050405020304" pitchFamily="18" charset="0"/>
                        </a:rPr>
                        <a:t> - 2420030141</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kern="1200" dirty="0" err="1">
                          <a:solidFill>
                            <a:schemeClr val="dk1"/>
                          </a:solidFill>
                          <a:latin typeface="Times New Roman" panose="02020603050405020304" pitchFamily="18" charset="0"/>
                          <a:ea typeface="Cambria"/>
                          <a:cs typeface="Times New Roman" panose="02020603050405020304" pitchFamily="18" charset="0"/>
                        </a:rPr>
                        <a:t>P.Ruthvik</a:t>
                      </a:r>
                      <a:r>
                        <a:rPr lang="en-IN" sz="1600" b="1" kern="1200" dirty="0">
                          <a:solidFill>
                            <a:schemeClr val="dk1"/>
                          </a:solidFill>
                          <a:latin typeface="Times New Roman" panose="02020603050405020304" pitchFamily="18" charset="0"/>
                          <a:ea typeface="Cambria"/>
                          <a:cs typeface="Times New Roman" panose="02020603050405020304" pitchFamily="18" charset="0"/>
                        </a:rPr>
                        <a:t> - 2420030546</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kern="1200" dirty="0" err="1">
                          <a:solidFill>
                            <a:schemeClr val="dk1"/>
                          </a:solidFill>
                          <a:latin typeface="Times New Roman" panose="02020603050405020304" pitchFamily="18" charset="0"/>
                          <a:ea typeface="Cambria"/>
                          <a:cs typeface="Times New Roman" panose="02020603050405020304" pitchFamily="18" charset="0"/>
                        </a:rPr>
                        <a:t>S.Akshay</a:t>
                      </a:r>
                      <a:r>
                        <a:rPr lang="en-IN" sz="1600" b="1" kern="1200" dirty="0">
                          <a:solidFill>
                            <a:schemeClr val="dk1"/>
                          </a:solidFill>
                          <a:latin typeface="Times New Roman" panose="02020603050405020304" pitchFamily="18" charset="0"/>
                          <a:ea typeface="Cambria"/>
                          <a:cs typeface="Times New Roman" panose="02020603050405020304" pitchFamily="18" charset="0"/>
                        </a:rPr>
                        <a:t> - 2420030579</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algn="l" defTabSz="914400" rtl="0" eaLnBrk="1" latinLnBrk="0" hangingPunct="1"/>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898083295"/>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IN" sz="1400" b="1" dirty="0"/>
                        <a:t>Dr. Patha Srilatha</a:t>
                      </a:r>
                    </a:p>
                    <a:p>
                      <a:pPr marL="0" indent="0" algn="l">
                        <a:lnSpc>
                          <a:spcPct val="100000"/>
                        </a:lnSpc>
                        <a:spcBef>
                          <a:spcPts val="200"/>
                        </a:spcBef>
                        <a:buSzPts val="810"/>
                        <a:buNone/>
                      </a:pPr>
                      <a:r>
                        <a:rPr lang="en-IN" sz="1400" dirty="0"/>
                        <a:t>Associate Professor</a:t>
                      </a:r>
                    </a:p>
                    <a:p>
                      <a:pPr marL="0" indent="0" algn="l">
                        <a:lnSpc>
                          <a:spcPct val="100000"/>
                        </a:lnSpc>
                        <a:spcBef>
                          <a:spcPts val="200"/>
                        </a:spcBef>
                        <a:buSzPts val="810"/>
                        <a:buNone/>
                      </a:pP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Department of CSE,</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40B9ACFA-2A9F-43C7-A33E-56247C3D5508}" type="datetime4">
              <a:rPr lang="en-US" b="1" smtClean="0"/>
              <a:t>September 22, 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CNAD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05065" y="975485"/>
            <a:ext cx="10715625" cy="477054"/>
          </a:xfrm>
          <a:prstGeom prst="rect">
            <a:avLst/>
          </a:prstGeom>
          <a:noFill/>
        </p:spPr>
        <p:txBody>
          <a:bodyPr wrap="square">
            <a:spAutoFit/>
          </a:bodyPr>
          <a:lstStyle/>
          <a:p>
            <a:pPr lvl="0" algn="ctr">
              <a:defRPr/>
            </a:pPr>
            <a:r>
              <a:rPr lang="en-IN" sz="2500" b="1" dirty="0">
                <a:solidFill>
                  <a:schemeClr val="bg1"/>
                </a:solidFill>
                <a:latin typeface="Times New Roman" panose="02020603050405020304" pitchFamily="18" charset="0"/>
                <a:cs typeface="Times New Roman" panose="02020603050405020304" pitchFamily="18" charset="0"/>
              </a:rPr>
              <a:t>CLOUD-NATIVE AI RESEARCH DISCOVERY PLATFORM</a:t>
            </a:r>
            <a:endParaRPr kumimoji="0" lang="en-US" sz="25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38175" y="2199745"/>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CNAD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8E01A8-886A-46C7-BF52-C29C0105232A}" type="datetime4">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September 22, 2026</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CNAD Project Review-2</a:t>
            </a: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D122E8B8-54AE-F861-D576-B62C19A557BC}"/>
              </a:ext>
            </a:extLst>
          </p:cNvPr>
          <p:cNvSpPr>
            <a:spLocks noGrp="1"/>
          </p:cNvSpPr>
          <p:nvPr>
            <p:ph type="dt" sz="half" idx="10"/>
          </p:nvPr>
        </p:nvSpPr>
        <p:spPr/>
        <p:txBody>
          <a:bodyPr/>
          <a:lstStyle/>
          <a:p>
            <a:fld id="{BD315AFC-B93D-4548-83C8-FC0E855535B0}" type="datetime4">
              <a:rPr lang="en-US" smtClean="0"/>
              <a:t>September 22, 2026</a:t>
            </a:fld>
            <a:endParaRPr lang="en-US"/>
          </a:p>
        </p:txBody>
      </p:sp>
      <p:sp>
        <p:nvSpPr>
          <p:cNvPr id="4" name="Footer Placeholder 3">
            <a:extLst>
              <a:ext uri="{FF2B5EF4-FFF2-40B4-BE49-F238E27FC236}">
                <a16:creationId xmlns:a16="http://schemas.microsoft.com/office/drawing/2014/main" id="{903DF040-570B-E40C-28DD-48ACF4776D20}"/>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247450DC-5C76-3221-3705-A7713237DE4A}"/>
              </a:ext>
            </a:extLst>
          </p:cNvPr>
          <p:cNvSpPr>
            <a:spLocks noGrp="1"/>
          </p:cNvSpPr>
          <p:nvPr>
            <p:ph type="sldNum" sz="quarter" idx="12"/>
          </p:nvPr>
        </p:nvSpPr>
        <p:spPr/>
        <p:txBody>
          <a:bodyPr/>
          <a:lstStyle/>
          <a:p>
            <a:fld id="{E639234F-78F1-4984-9C4D-D4C7AB587871}" type="slidenum">
              <a:rPr lang="en-US" smtClean="0"/>
              <a:t>3</a:t>
            </a:fld>
            <a:endParaRPr lang="en-US"/>
          </a:p>
        </p:txBody>
      </p:sp>
      <p:sp>
        <p:nvSpPr>
          <p:cNvPr id="8" name="Rectangle: Rounded Corners 7">
            <a:extLst>
              <a:ext uri="{FF2B5EF4-FFF2-40B4-BE49-F238E27FC236}">
                <a16:creationId xmlns:a16="http://schemas.microsoft.com/office/drawing/2014/main" id="{3CB58DBC-97DD-CAE2-6032-D8BF2561F46C}"/>
              </a:ext>
            </a:extLst>
          </p:cNvPr>
          <p:cNvSpPr/>
          <p:nvPr/>
        </p:nvSpPr>
        <p:spPr>
          <a:xfrm>
            <a:off x="3834920" y="136525"/>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B949DD67-226D-85A3-1196-28909E2A93C5}"/>
              </a:ext>
            </a:extLst>
          </p:cNvPr>
          <p:cNvSpPr txBox="1"/>
          <p:nvPr/>
        </p:nvSpPr>
        <p:spPr>
          <a:xfrm>
            <a:off x="1019897" y="1863332"/>
            <a:ext cx="9464842" cy="2031325"/>
          </a:xfrm>
          <a:prstGeom prst="rect">
            <a:avLst/>
          </a:prstGeom>
          <a:noFill/>
        </p:spPr>
        <p:txBody>
          <a:bodyPr wrap="square" rtlCol="0">
            <a:spAutoFit/>
          </a:bodyPr>
          <a:lstStyle/>
          <a:p>
            <a:pPr algn="just"/>
            <a:r>
              <a:rPr lang="en-IN" dirty="0"/>
              <a:t>Traditional research work is time-consuming because students and researchers need to search through multiple sources to find relevant research papers. Understanding lengthy papers, extracting important information, identifying related research, and organizing papers also requires significant manual effort. Existing tools often provide research search, AI analysis, or paper management separately. Therefore, there is a need for a </a:t>
            </a:r>
            <a:r>
              <a:rPr lang="en-IN" b="1" dirty="0"/>
              <a:t>centralized, intelligent, and scalable platform</a:t>
            </a:r>
            <a:r>
              <a:rPr lang="en-IN" dirty="0"/>
              <a:t> that integrates </a:t>
            </a:r>
            <a:r>
              <a:rPr lang="en-IN" b="1" dirty="0"/>
              <a:t>research paper discovery, AI-powered analysis, recommendations, and research management</a:t>
            </a:r>
            <a:r>
              <a:rPr lang="en-IN" dirty="0"/>
              <a:t> in a </a:t>
            </a:r>
            <a:r>
              <a:rPr lang="en-IN" b="1" dirty="0"/>
              <a:t>cloud-native environment</a:t>
            </a:r>
            <a:r>
              <a:rPr lang="en-IN" dirty="0"/>
              <a:t>.</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17A0AD57-5E78-4F71-AA80-ED556F1D4F01}" type="datetime4">
              <a:rPr lang="en-US" smtClean="0"/>
              <a:t>September 22, 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4</a:t>
            </a:fld>
            <a:endParaRPr lang="en-US"/>
          </a:p>
        </p:txBody>
      </p:sp>
      <p:sp>
        <p:nvSpPr>
          <p:cNvPr id="9" name="Rectangle: Rounded Corners 8">
            <a:extLst>
              <a:ext uri="{FF2B5EF4-FFF2-40B4-BE49-F238E27FC236}">
                <a16:creationId xmlns:a16="http://schemas.microsoft.com/office/drawing/2014/main" id="{BADE4BBA-6735-AAC4-BA57-E76FE3B3CF7A}"/>
              </a:ext>
            </a:extLst>
          </p:cNvPr>
          <p:cNvSpPr/>
          <p:nvPr/>
        </p:nvSpPr>
        <p:spPr>
          <a:xfrm>
            <a:off x="3845080" y="122680"/>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2AE0D33A-0922-E6F2-08FA-4B3F3C97802A}"/>
              </a:ext>
            </a:extLst>
          </p:cNvPr>
          <p:cNvSpPr txBox="1"/>
          <p:nvPr/>
        </p:nvSpPr>
        <p:spPr>
          <a:xfrm>
            <a:off x="1363579" y="1347537"/>
            <a:ext cx="9561095" cy="4247317"/>
          </a:xfrm>
          <a:prstGeom prst="rect">
            <a:avLst/>
          </a:prstGeom>
          <a:noFill/>
        </p:spPr>
        <p:txBody>
          <a:bodyPr wrap="square" rtlCol="0">
            <a:spAutoFit/>
          </a:bodyPr>
          <a:lstStyle/>
          <a:p>
            <a:pPr marL="285750" lvl="0" indent="-285750">
              <a:buFont typeface="Arial" panose="020B0604020202020204" pitchFamily="34" charset="0"/>
              <a:buChar char="•"/>
            </a:pPr>
            <a:r>
              <a:rPr lang="en-IN" dirty="0"/>
              <a:t>To develop a </a:t>
            </a:r>
            <a:r>
              <a:rPr lang="en-IN" b="1" dirty="0"/>
              <a:t>centralized research discovery platform</a:t>
            </a:r>
            <a:r>
              <a:rPr lang="en-IN" dirty="0"/>
              <a:t> for finding relevant academic papers easily. </a:t>
            </a:r>
          </a:p>
          <a:p>
            <a:pPr marL="285750" lvl="0" indent="-285750">
              <a:buFont typeface="Arial" panose="020B0604020202020204" pitchFamily="34" charset="0"/>
              <a:buChar char="•"/>
            </a:pPr>
            <a:r>
              <a:rPr lang="en-IN" dirty="0"/>
              <a:t>To provide </a:t>
            </a:r>
            <a:r>
              <a:rPr lang="en-IN" b="1" dirty="0"/>
              <a:t>AI-powered summaries</a:t>
            </a:r>
            <a:r>
              <a:rPr lang="en-IN" dirty="0"/>
              <a:t> for quick understanding of lengthy research papers. </a:t>
            </a:r>
          </a:p>
          <a:p>
            <a:pPr marL="285750" lvl="0" indent="-285750">
              <a:buFont typeface="Arial" panose="020B0604020202020204" pitchFamily="34" charset="0"/>
              <a:buChar char="•"/>
            </a:pPr>
            <a:r>
              <a:rPr lang="en-IN" dirty="0"/>
              <a:t>To automatically extract </a:t>
            </a:r>
            <a:r>
              <a:rPr lang="en-IN" b="1" dirty="0"/>
              <a:t>keywords, concepts, and important research insights</a:t>
            </a:r>
            <a:r>
              <a:rPr lang="en-IN" dirty="0"/>
              <a:t> from papers. </a:t>
            </a:r>
          </a:p>
          <a:p>
            <a:pPr marL="285750" lvl="0" indent="-285750">
              <a:buFont typeface="Arial" panose="020B0604020202020204" pitchFamily="34" charset="0"/>
              <a:buChar char="•"/>
            </a:pPr>
            <a:r>
              <a:rPr lang="en-IN" dirty="0"/>
              <a:t>To recommend </a:t>
            </a:r>
            <a:r>
              <a:rPr lang="en-IN" b="1" dirty="0"/>
              <a:t>related research papers</a:t>
            </a:r>
            <a:r>
              <a:rPr lang="en-IN" dirty="0"/>
              <a:t> based on topics and paper content. </a:t>
            </a:r>
          </a:p>
          <a:p>
            <a:pPr marL="285750" lvl="0" indent="-285750">
              <a:buFont typeface="Arial" panose="020B0604020202020204" pitchFamily="34" charset="0"/>
              <a:buChar char="•"/>
            </a:pPr>
            <a:r>
              <a:rPr lang="en-IN" dirty="0"/>
              <a:t>To provide </a:t>
            </a:r>
            <a:r>
              <a:rPr lang="en-IN" b="1" dirty="0"/>
              <a:t>paper comparison</a:t>
            </a:r>
            <a:r>
              <a:rPr lang="en-IN" dirty="0"/>
              <a:t> for </a:t>
            </a:r>
            <a:r>
              <a:rPr lang="en-IN" dirty="0" err="1"/>
              <a:t>analyzing</a:t>
            </a:r>
            <a:r>
              <a:rPr lang="en-IN" dirty="0"/>
              <a:t> multiple research papers. </a:t>
            </a:r>
          </a:p>
          <a:p>
            <a:pPr marL="285750" lvl="0" indent="-285750">
              <a:buFont typeface="Arial" panose="020B0604020202020204" pitchFamily="34" charset="0"/>
              <a:buChar char="•"/>
            </a:pPr>
            <a:r>
              <a:rPr lang="en-IN" dirty="0"/>
              <a:t>To provide </a:t>
            </a:r>
            <a:r>
              <a:rPr lang="en-IN" b="1" dirty="0"/>
              <a:t>bookmarks, collections, and search history</a:t>
            </a:r>
            <a:r>
              <a:rPr lang="en-IN" dirty="0"/>
              <a:t> for organized research management. </a:t>
            </a:r>
          </a:p>
          <a:p>
            <a:pPr marL="285750" lvl="0" indent="-285750">
              <a:buFont typeface="Arial" panose="020B0604020202020204" pitchFamily="34" charset="0"/>
              <a:buChar char="•"/>
            </a:pPr>
            <a:r>
              <a:rPr lang="en-IN" dirty="0"/>
              <a:t>To process uploaded research PDFs using </a:t>
            </a:r>
            <a:r>
              <a:rPr lang="en-IN" b="1" dirty="0"/>
              <a:t>PDF text extraction and AI analysis</a:t>
            </a:r>
            <a:r>
              <a:rPr lang="en-IN" dirty="0"/>
              <a:t>. </a:t>
            </a:r>
          </a:p>
          <a:p>
            <a:pPr marL="285750" lvl="0" indent="-285750">
              <a:buFont typeface="Arial" panose="020B0604020202020204" pitchFamily="34" charset="0"/>
              <a:buChar char="•"/>
            </a:pPr>
            <a:r>
              <a:rPr lang="en-IN" dirty="0"/>
              <a:t>To build a </a:t>
            </a:r>
            <a:r>
              <a:rPr lang="en-IN" b="1" dirty="0"/>
              <a:t>scalable and reliable cloud-native application</a:t>
            </a:r>
            <a:r>
              <a:rPr lang="en-IN" dirty="0"/>
              <a:t> using Docker, Kubernetes, and AWS EKS. </a:t>
            </a:r>
          </a:p>
          <a:p>
            <a:pPr marL="285750" lvl="0" indent="-285750">
              <a:buFont typeface="Arial" panose="020B0604020202020204" pitchFamily="34" charset="0"/>
              <a:buChar char="•"/>
            </a:pPr>
            <a:r>
              <a:rPr lang="en-IN" dirty="0"/>
              <a:t>To integrate </a:t>
            </a:r>
            <a:r>
              <a:rPr lang="en-IN" b="1" dirty="0"/>
              <a:t>cloud storage, database, research APIs, and AI services</a:t>
            </a:r>
            <a:r>
              <a:rPr lang="en-IN" dirty="0"/>
              <a:t> into one platform. </a:t>
            </a:r>
          </a:p>
          <a:p>
            <a:pPr marL="285750" lvl="0" indent="-285750">
              <a:buFont typeface="Arial" panose="020B0604020202020204" pitchFamily="34" charset="0"/>
              <a:buChar char="•"/>
            </a:pPr>
            <a:r>
              <a:rPr lang="en-IN" dirty="0"/>
              <a:t>To implement </a:t>
            </a:r>
            <a:r>
              <a:rPr lang="en-IN" b="1" dirty="0"/>
              <a:t>secure and modular services</a:t>
            </a:r>
            <a:r>
              <a:rPr lang="en-IN" dirty="0"/>
              <a:t> that can be independently developed, deployed, and scaled. </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4050615335"/>
              </p:ext>
            </p:extLst>
          </p:nvPr>
        </p:nvGraphicFramePr>
        <p:xfrm>
          <a:off x="274647" y="1080348"/>
          <a:ext cx="11642705" cy="4673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buNone/>
                      </a:pPr>
                      <a:r>
                        <a:rPr lang="en-IN" sz="1400"/>
                        <a:t>Authors</a:t>
                      </a:r>
                    </a:p>
                  </a:txBody>
                  <a:tcPr anchor="ctr">
                    <a:solidFill>
                      <a:srgbClr val="FFFF00"/>
                    </a:solidFill>
                  </a:tcPr>
                </a:tc>
                <a:tc>
                  <a:txBody>
                    <a:bodyPr/>
                    <a:lstStyle/>
                    <a:p>
                      <a:pPr>
                        <a:buNone/>
                      </a:pPr>
                      <a:r>
                        <a:rPr lang="en-IN" sz="1400"/>
                        <a:t>Title of the Paper</a:t>
                      </a:r>
                    </a:p>
                  </a:txBody>
                  <a:tcPr anchor="ctr">
                    <a:solidFill>
                      <a:srgbClr val="FFFF00"/>
                    </a:solidFill>
                  </a:tcPr>
                </a:tc>
                <a:tc>
                  <a:txBody>
                    <a:bodyPr/>
                    <a:lstStyle/>
                    <a:p>
                      <a:pPr>
                        <a:buNone/>
                      </a:pPr>
                      <a:r>
                        <a:rPr lang="en-IN" sz="1400"/>
                        <a:t>Methodology</a:t>
                      </a:r>
                    </a:p>
                  </a:txBody>
                  <a:tcPr anchor="ctr">
                    <a:solidFill>
                      <a:srgbClr val="FFFF00"/>
                    </a:solidFill>
                  </a:tcPr>
                </a:tc>
                <a:tc>
                  <a:txBody>
                    <a:bodyPr/>
                    <a:lstStyle/>
                    <a:p>
                      <a:pPr>
                        <a:buNone/>
                      </a:pPr>
                      <a:r>
                        <a:rPr lang="en-IN" sz="1400"/>
                        <a:t>Inferences</a:t>
                      </a:r>
                    </a:p>
                  </a:txBody>
                  <a:tcPr anchor="ctr">
                    <a:solidFill>
                      <a:srgbClr val="FFFF00"/>
                    </a:solidFill>
                  </a:tcPr>
                </a:tc>
                <a:tc>
                  <a:txBody>
                    <a:bodyPr/>
                    <a:lstStyle/>
                    <a:p>
                      <a:pPr>
                        <a:buNone/>
                      </a:pPr>
                      <a:r>
                        <a:rPr lang="en-IN" sz="1400"/>
                        <a:t>Limitation / Future Work</a:t>
                      </a:r>
                    </a:p>
                  </a:txBody>
                  <a:tcPr anchor="ctr">
                    <a:solidFill>
                      <a:srgbClr val="FFFF00"/>
                    </a:solidFill>
                  </a:tcPr>
                </a:tc>
                <a:extLst>
                  <a:ext uri="{0D108BD9-81ED-4DB2-BD59-A6C34878D82A}">
                    <a16:rowId xmlns:a16="http://schemas.microsoft.com/office/drawing/2014/main" val="10000"/>
                  </a:ext>
                </a:extLst>
              </a:tr>
              <a:tr h="1541937">
                <a:tc>
                  <a:txBody>
                    <a:bodyPr/>
                    <a:lstStyle/>
                    <a:p>
                      <a:pPr>
                        <a:buNone/>
                      </a:pPr>
                      <a:r>
                        <a:rPr lang="en-IN" sz="1400" b="1"/>
                        <a:t>Bawkar et al. [4]</a:t>
                      </a:r>
                      <a:endParaRPr lang="en-IN" sz="1400"/>
                    </a:p>
                  </a:txBody>
                  <a:tcPr anchor="ctr"/>
                </a:tc>
                <a:tc>
                  <a:txBody>
                    <a:bodyPr/>
                    <a:lstStyle/>
                    <a:p>
                      <a:pPr>
                        <a:buNone/>
                      </a:pPr>
                      <a:r>
                        <a:rPr lang="en-IN" sz="1400" b="1"/>
                        <a:t>AI Research Paper Summarizer and Recommendation Engine</a:t>
                      </a:r>
                      <a:endParaRPr lang="en-IN" sz="1400"/>
                    </a:p>
                  </a:txBody>
                  <a:tcPr anchor="ctr"/>
                </a:tc>
                <a:tc>
                  <a:txBody>
                    <a:bodyPr/>
                    <a:lstStyle/>
                    <a:p>
                      <a:pPr>
                        <a:buNone/>
                      </a:pPr>
                      <a:r>
                        <a:rPr lang="en-IN" sz="1400"/>
                        <a:t>Uses NLP/transformer models for research-paper summarization and FAISS for similarity-based recommendation, with arXiv API, MongoDB and FastAPI.</a:t>
                      </a:r>
                    </a:p>
                  </a:txBody>
                  <a:tcPr anchor="ctr"/>
                </a:tc>
                <a:tc>
                  <a:txBody>
                    <a:bodyPr/>
                    <a:lstStyle/>
                    <a:p>
                      <a:pPr>
                        <a:buNone/>
                      </a:pPr>
                      <a:r>
                        <a:rPr lang="en-IN" sz="1400"/>
                        <a:t>Shows that </a:t>
                      </a:r>
                      <a:r>
                        <a:rPr lang="en-IN" sz="1400" b="1"/>
                        <a:t>AI can automate paper summarization and related-paper recommendation</a:t>
                      </a:r>
                      <a:r>
                        <a:rPr lang="en-IN" sz="1400"/>
                        <a:t>, reducing the effort required to understand research literature.</a:t>
                      </a:r>
                    </a:p>
                  </a:txBody>
                  <a:tcPr anchor="ctr"/>
                </a:tc>
                <a:tc>
                  <a:txBody>
                    <a:bodyPr/>
                    <a:lstStyle/>
                    <a:p>
                      <a:pPr>
                        <a:buNone/>
                      </a:pPr>
                      <a:r>
                        <a:rPr lang="en-IN" sz="1400"/>
                        <a:t>Future work can improve </a:t>
                      </a:r>
                      <a:r>
                        <a:rPr lang="en-IN" sz="1400" b="1"/>
                        <a:t>semantic accuracy, recommendation quality, scalability, and AI analysis capabilities</a:t>
                      </a:r>
                      <a:r>
                        <a:rPr lang="en-IN" sz="1400"/>
                        <a:t>.</a:t>
                      </a:r>
                    </a:p>
                  </a:txBody>
                  <a:tcPr anchor="ctr"/>
                </a:tc>
                <a:extLst>
                  <a:ext uri="{0D108BD9-81ED-4DB2-BD59-A6C34878D82A}">
                    <a16:rowId xmlns:a16="http://schemas.microsoft.com/office/drawing/2014/main" val="3714155954"/>
                  </a:ext>
                </a:extLst>
              </a:tr>
              <a:tr h="1354600">
                <a:tc>
                  <a:txBody>
                    <a:bodyPr/>
                    <a:lstStyle/>
                    <a:p>
                      <a:pPr>
                        <a:buNone/>
                      </a:pPr>
                      <a:r>
                        <a:rPr lang="en-IN" sz="1400" b="1"/>
                        <a:t>Kreutz &amp; Schenkel [5]</a:t>
                      </a:r>
                      <a:endParaRPr lang="en-IN" sz="1400"/>
                    </a:p>
                  </a:txBody>
                  <a:tcPr anchor="ctr"/>
                </a:tc>
                <a:tc>
                  <a:txBody>
                    <a:bodyPr/>
                    <a:lstStyle/>
                    <a:p>
                      <a:pPr>
                        <a:buNone/>
                      </a:pPr>
                      <a:r>
                        <a:rPr lang="en-IN" sz="1400" b="1"/>
                        <a:t>Scientific Paper Recommendation Systems: A Literature Review of Recent Publications</a:t>
                      </a:r>
                      <a:endParaRPr lang="en-IN" sz="1400"/>
                    </a:p>
                  </a:txBody>
                  <a:tcPr anchor="ctr"/>
                </a:tc>
                <a:tc>
                  <a:txBody>
                    <a:bodyPr/>
                    <a:lstStyle/>
                    <a:p>
                      <a:pPr>
                        <a:buNone/>
                      </a:pPr>
                      <a:r>
                        <a:rPr lang="en-IN" sz="1400"/>
                        <a:t>Reviews paper-recommendation methods, datasets, evaluation approaches and open challenges in scientific literature recommendation.</a:t>
                      </a:r>
                    </a:p>
                  </a:txBody>
                  <a:tcPr anchor="ctr"/>
                </a:tc>
                <a:tc>
                  <a:txBody>
                    <a:bodyPr/>
                    <a:lstStyle/>
                    <a:p>
                      <a:pPr>
                        <a:buNone/>
                      </a:pPr>
                      <a:r>
                        <a:rPr lang="en-IN" sz="1400"/>
                        <a:t>Shows that automated recommendation helps researchers </a:t>
                      </a:r>
                      <a:r>
                        <a:rPr lang="en-IN" sz="1400" b="1"/>
                        <a:t>discover relevant papers</a:t>
                      </a:r>
                      <a:r>
                        <a:rPr lang="en-IN" sz="1400"/>
                        <a:t> from the rapidly growing research literature.</a:t>
                      </a:r>
                    </a:p>
                  </a:txBody>
                  <a:tcPr anchor="ctr"/>
                </a:tc>
                <a:tc>
                  <a:txBody>
                    <a:bodyPr/>
                    <a:lstStyle/>
                    <a:p>
                      <a:pPr>
                        <a:buNone/>
                      </a:pPr>
                      <a:r>
                        <a:rPr lang="en-IN" sz="1400"/>
                        <a:t>Challenges remain in </a:t>
                      </a:r>
                      <a:r>
                        <a:rPr lang="en-IN" sz="1400" b="1"/>
                        <a:t>relevance evaluation, personalization, datasets, and recommendation quality</a:t>
                      </a:r>
                      <a:r>
                        <a:rPr lang="en-IN" sz="1400"/>
                        <a:t>.</a:t>
                      </a:r>
                    </a:p>
                  </a:txBody>
                  <a:tcPr anchor="ctr"/>
                </a:tc>
                <a:extLst>
                  <a:ext uri="{0D108BD9-81ED-4DB2-BD59-A6C34878D82A}">
                    <a16:rowId xmlns:a16="http://schemas.microsoft.com/office/drawing/2014/main" val="2655426370"/>
                  </a:ext>
                </a:extLst>
              </a:tr>
              <a:tr h="1354600">
                <a:tc>
                  <a:txBody>
                    <a:bodyPr/>
                    <a:lstStyle/>
                    <a:p>
                      <a:pPr>
                        <a:buNone/>
                      </a:pPr>
                      <a:r>
                        <a:rPr lang="en-IN" sz="1400" b="1"/>
                        <a:t>Becker [6]</a:t>
                      </a:r>
                      <a:endParaRPr lang="en-IN" sz="1400"/>
                    </a:p>
                  </a:txBody>
                  <a:tcPr anchor="ctr"/>
                </a:tc>
                <a:tc>
                  <a:txBody>
                    <a:bodyPr/>
                    <a:lstStyle/>
                    <a:p>
                      <a:pPr>
                        <a:buNone/>
                      </a:pPr>
                      <a:r>
                        <a:rPr lang="en-IN" sz="1400" b="1"/>
                        <a:t>An AI-Enabled Microservices Architecture for Real-Time Machine Learning Inference in Cloud-Native Systems</a:t>
                      </a:r>
                      <a:endParaRPr lang="en-IN" sz="1400"/>
                    </a:p>
                  </a:txBody>
                  <a:tcPr anchor="ctr"/>
                </a:tc>
                <a:tc>
                  <a:txBody>
                    <a:bodyPr/>
                    <a:lstStyle/>
                    <a:p>
                      <a:pPr>
                        <a:buNone/>
                      </a:pPr>
                      <a:r>
                        <a:rPr lang="en-IN" sz="1400"/>
                        <a:t>Uses </a:t>
                      </a:r>
                      <a:r>
                        <a:rPr lang="en-IN" sz="1400" b="1"/>
                        <a:t>AI-enabled microservices, containerization and Kubernetes</a:t>
                      </a:r>
                      <a:r>
                        <a:rPr lang="en-IN" sz="1400"/>
                        <a:t> for scalable machine-learning inference.</a:t>
                      </a:r>
                    </a:p>
                  </a:txBody>
                  <a:tcPr anchor="ctr"/>
                </a:tc>
                <a:tc>
                  <a:txBody>
                    <a:bodyPr/>
                    <a:lstStyle/>
                    <a:p>
                      <a:pPr>
                        <a:buNone/>
                      </a:pPr>
                      <a:r>
                        <a:rPr lang="en-IN" sz="1400"/>
                        <a:t>Demonstrates that combining </a:t>
                      </a:r>
                      <a:r>
                        <a:rPr lang="en-IN" sz="1400" b="1"/>
                        <a:t>AI services with microservices and Kubernetes</a:t>
                      </a:r>
                      <a:r>
                        <a:rPr lang="en-IN" sz="1400"/>
                        <a:t> supports scalable and portable AI applications.</a:t>
                      </a:r>
                    </a:p>
                  </a:txBody>
                  <a:tcPr anchor="ctr"/>
                </a:tc>
                <a:tc>
                  <a:txBody>
                    <a:bodyPr/>
                    <a:lstStyle/>
                    <a:p>
                      <a:pPr>
                        <a:buNone/>
                      </a:pPr>
                      <a:r>
                        <a:rPr lang="en-IN" sz="1400" dirty="0"/>
                        <a:t>Further work can improve </a:t>
                      </a:r>
                      <a:r>
                        <a:rPr lang="en-IN" sz="1400" b="1" dirty="0"/>
                        <a:t>resource efficiency, deployment optimization, scalability, and model management</a:t>
                      </a:r>
                      <a:r>
                        <a:rPr lang="en-IN" sz="1400" dirty="0"/>
                        <a:t>.</a:t>
                      </a:r>
                    </a:p>
                  </a:txBody>
                  <a:tcPr anchor="ctr"/>
                </a:tc>
                <a:extLst>
                  <a:ext uri="{0D108BD9-81ED-4DB2-BD59-A6C34878D82A}">
                    <a16:rowId xmlns:a16="http://schemas.microsoft.com/office/drawing/2014/main" val="2841575018"/>
                  </a:ext>
                </a:extLst>
              </a:tr>
            </a:tbl>
          </a:graphicData>
        </a:graphic>
      </p:graphicFrame>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60DE3D05-A232-48B1-A54D-21BF95D2CE1F}" type="datetime4">
              <a:rPr lang="en-US" smtClean="0"/>
              <a:t>September 22,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CNAD Project Review-2</a:t>
            </a:r>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
        <p:nvSpPr>
          <p:cNvPr id="5" name="Rectangle: Rounded Corners 4">
            <a:extLst>
              <a:ext uri="{FF2B5EF4-FFF2-40B4-BE49-F238E27FC236}">
                <a16:creationId xmlns:a16="http://schemas.microsoft.com/office/drawing/2014/main" id="{2704399D-42EB-45BD-D43F-A5AE14D447C0}"/>
              </a:ext>
            </a:extLst>
          </p:cNvPr>
          <p:cNvSpPr/>
          <p:nvPr/>
        </p:nvSpPr>
        <p:spPr>
          <a:xfrm>
            <a:off x="3773960" y="28819"/>
            <a:ext cx="4105120" cy="5937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Cambria"/>
                <a:cs typeface="Times New Roman" panose="02020603050405020304" pitchFamily="18" charset="0"/>
              </a:rPr>
              <a:t>Literature Survey</a:t>
            </a:r>
            <a:endParaRPr lang="en-IN"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68EF7CC6-A232-6F78-D877-F4139E33B62C}"/>
              </a:ext>
            </a:extLst>
          </p:cNvPr>
          <p:cNvSpPr>
            <a:spLocks noGrp="1"/>
          </p:cNvSpPr>
          <p:nvPr>
            <p:ph type="dt" sz="half" idx="10"/>
          </p:nvPr>
        </p:nvSpPr>
        <p:spPr/>
        <p:txBody>
          <a:bodyPr/>
          <a:lstStyle/>
          <a:p>
            <a:fld id="{F96AFB91-DE05-4F78-8DB4-1F8CF41ED0F5}" type="datetime4">
              <a:rPr lang="en-US" smtClean="0"/>
              <a:t>September 22, 2026</a:t>
            </a:fld>
            <a:endParaRPr lang="en-US"/>
          </a:p>
        </p:txBody>
      </p:sp>
      <p:sp>
        <p:nvSpPr>
          <p:cNvPr id="4" name="Footer Placeholder 3">
            <a:extLst>
              <a:ext uri="{FF2B5EF4-FFF2-40B4-BE49-F238E27FC236}">
                <a16:creationId xmlns:a16="http://schemas.microsoft.com/office/drawing/2014/main" id="{EB1B73B0-000A-32FB-5643-CD5676D4AF06}"/>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7FA1E0BD-2CF1-90B0-91FF-80A63764D288}"/>
              </a:ext>
            </a:extLst>
          </p:cNvPr>
          <p:cNvSpPr>
            <a:spLocks noGrp="1"/>
          </p:cNvSpPr>
          <p:nvPr>
            <p:ph type="sldNum" sz="quarter" idx="12"/>
          </p:nvPr>
        </p:nvSpPr>
        <p:spPr/>
        <p:txBody>
          <a:bodyPr/>
          <a:lstStyle/>
          <a:p>
            <a:fld id="{E639234F-78F1-4984-9C4D-D4C7AB587871}" type="slidenum">
              <a:rPr lang="en-US" smtClean="0"/>
              <a:t>6</a:t>
            </a:fld>
            <a:endParaRPr lang="en-US"/>
          </a:p>
        </p:txBody>
      </p:sp>
      <p:sp>
        <p:nvSpPr>
          <p:cNvPr id="10" name="Rectangle: Rounded Corners 9">
            <a:extLst>
              <a:ext uri="{FF2B5EF4-FFF2-40B4-BE49-F238E27FC236}">
                <a16:creationId xmlns:a16="http://schemas.microsoft.com/office/drawing/2014/main" id="{CD00B50F-4223-2213-E4CD-57D228BCA0B6}"/>
              </a:ext>
            </a:extLst>
          </p:cNvPr>
          <p:cNvSpPr/>
          <p:nvPr/>
        </p:nvSpPr>
        <p:spPr>
          <a:xfrm>
            <a:off x="3352320" y="268328"/>
            <a:ext cx="525828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Gap Identification</a:t>
            </a:r>
          </a:p>
        </p:txBody>
      </p:sp>
      <p:sp>
        <p:nvSpPr>
          <p:cNvPr id="5" name="TextBox 4">
            <a:extLst>
              <a:ext uri="{FF2B5EF4-FFF2-40B4-BE49-F238E27FC236}">
                <a16:creationId xmlns:a16="http://schemas.microsoft.com/office/drawing/2014/main" id="{3F05F737-869D-2EB6-255B-705501116CC6}"/>
              </a:ext>
            </a:extLst>
          </p:cNvPr>
          <p:cNvSpPr txBox="1"/>
          <p:nvPr/>
        </p:nvSpPr>
        <p:spPr>
          <a:xfrm>
            <a:off x="1106905" y="1540042"/>
            <a:ext cx="10246895" cy="3139321"/>
          </a:xfrm>
          <a:prstGeom prst="rect">
            <a:avLst/>
          </a:prstGeom>
          <a:noFill/>
        </p:spPr>
        <p:txBody>
          <a:bodyPr wrap="square" rtlCol="0">
            <a:spAutoFit/>
          </a:bodyPr>
          <a:lstStyle/>
          <a:p>
            <a:pPr algn="just"/>
            <a:r>
              <a:rPr lang="en-IN" dirty="0"/>
              <a:t>Existing solutions generally address </a:t>
            </a:r>
            <a:r>
              <a:rPr lang="en-IN" b="1" dirty="0"/>
              <a:t>academic search, research-paper recommendation, or AI-based literature analysis separately</a:t>
            </a:r>
            <a:r>
              <a:rPr lang="en-IN" dirty="0"/>
              <a:t>, but they do not provide a </a:t>
            </a:r>
            <a:r>
              <a:rPr lang="en-IN" b="1" dirty="0"/>
              <a:t>single integrated platform</a:t>
            </a:r>
            <a:r>
              <a:rPr lang="en-IN" dirty="0"/>
              <a:t> that combines research discovery with AI-powered understanding and cloud-native deployment. Researchers still need to use multiple tools to </a:t>
            </a:r>
            <a:r>
              <a:rPr lang="en-IN" b="1" dirty="0"/>
              <a:t>find, understand, and organize</a:t>
            </a:r>
            <a:r>
              <a:rPr lang="en-IN" dirty="0"/>
              <a:t> research information efficiently. There is therefore a gap for a </a:t>
            </a:r>
            <a:r>
              <a:rPr lang="en-IN" b="1" dirty="0"/>
              <a:t>scalable, modular, and reliable cloud-native platform</a:t>
            </a:r>
            <a:r>
              <a:rPr lang="en-IN" dirty="0"/>
              <a:t> that integrates </a:t>
            </a:r>
            <a:r>
              <a:rPr lang="en-IN" b="1" dirty="0"/>
              <a:t>AI-based research analysis, paper recommendations, and research management</a:t>
            </a:r>
            <a:r>
              <a:rPr lang="en-IN" dirty="0"/>
              <a:t> within one system.</a:t>
            </a:r>
          </a:p>
          <a:p>
            <a:pPr algn="just"/>
            <a:r>
              <a:rPr lang="en-IN" dirty="0"/>
              <a:t>Our project aims to address this gap by combining </a:t>
            </a:r>
            <a:r>
              <a:rPr lang="en-IN" b="1" dirty="0"/>
              <a:t>AI-powered research discovery</a:t>
            </a:r>
            <a:r>
              <a:rPr lang="en-IN" dirty="0"/>
              <a:t> with a </a:t>
            </a:r>
            <a:r>
              <a:rPr lang="en-IN" b="1" dirty="0"/>
              <a:t>cloud-native microservices architecture</a:t>
            </a:r>
            <a:r>
              <a:rPr lang="en-IN" dirty="0"/>
              <a:t>, enabling the platform to be </a:t>
            </a:r>
            <a:r>
              <a:rPr lang="en-IN" b="1" dirty="0"/>
              <a:t>containerized, scalable, reliable, and deployable on the cloud</a:t>
            </a:r>
            <a:r>
              <a:rPr lang="en-IN" dirty="0"/>
              <a:t>.</a:t>
            </a:r>
          </a:p>
          <a:p>
            <a:pPr algn="just"/>
            <a:endParaRPr lang="en-IN"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9C45-DE8C-2239-2AAD-F9964B0FE2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5D98E5D-948B-E17A-C230-173D2F37FAA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08B986C2-CA3F-0A13-E882-7C1384D44856}"/>
              </a:ext>
            </a:extLst>
          </p:cNvPr>
          <p:cNvSpPr>
            <a:spLocks noGrp="1"/>
          </p:cNvSpPr>
          <p:nvPr>
            <p:ph type="dt" sz="half" idx="10"/>
          </p:nvPr>
        </p:nvSpPr>
        <p:spPr/>
        <p:txBody>
          <a:bodyPr/>
          <a:lstStyle/>
          <a:p>
            <a:fld id="{926DFEAE-D793-4EC1-B4DF-B11928EBEEC1}" type="datetime4">
              <a:rPr lang="en-US" smtClean="0"/>
              <a:t>September 22, 2026</a:t>
            </a:fld>
            <a:endParaRPr lang="en-US"/>
          </a:p>
        </p:txBody>
      </p:sp>
      <p:sp>
        <p:nvSpPr>
          <p:cNvPr id="4" name="Footer Placeholder 3">
            <a:extLst>
              <a:ext uri="{FF2B5EF4-FFF2-40B4-BE49-F238E27FC236}">
                <a16:creationId xmlns:a16="http://schemas.microsoft.com/office/drawing/2014/main" id="{909D6220-2C96-345E-D960-9D8EF579A451}"/>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623E4888-5934-2F2A-2B3C-BF8848F3A364}"/>
              </a:ext>
            </a:extLst>
          </p:cNvPr>
          <p:cNvSpPr>
            <a:spLocks noGrp="1"/>
          </p:cNvSpPr>
          <p:nvPr>
            <p:ph type="sldNum" sz="quarter" idx="12"/>
          </p:nvPr>
        </p:nvSpPr>
        <p:spPr/>
        <p:txBody>
          <a:bodyPr/>
          <a:lstStyle/>
          <a:p>
            <a:fld id="{E639234F-78F1-4984-9C4D-D4C7AB587871}" type="slidenum">
              <a:rPr lang="en-US" smtClean="0"/>
              <a:t>7</a:t>
            </a:fld>
            <a:endParaRPr lang="en-US"/>
          </a:p>
        </p:txBody>
      </p:sp>
      <p:graphicFrame>
        <p:nvGraphicFramePr>
          <p:cNvPr id="8" name="Table 7">
            <a:extLst>
              <a:ext uri="{FF2B5EF4-FFF2-40B4-BE49-F238E27FC236}">
                <a16:creationId xmlns:a16="http://schemas.microsoft.com/office/drawing/2014/main" id="{DC0C7C88-4C7E-9DD9-AC42-9E1FF52B3699}"/>
              </a:ext>
            </a:extLst>
          </p:cNvPr>
          <p:cNvGraphicFramePr>
            <a:graphicFrameLocks noGrp="1"/>
          </p:cNvGraphicFramePr>
          <p:nvPr>
            <p:extLst>
              <p:ext uri="{D42A27DB-BD31-4B8C-83A1-F6EECF244321}">
                <p14:modId xmlns:p14="http://schemas.microsoft.com/office/powerpoint/2010/main" val="4091357258"/>
              </p:ext>
            </p:extLst>
          </p:nvPr>
        </p:nvGraphicFramePr>
        <p:xfrm>
          <a:off x="669918" y="979592"/>
          <a:ext cx="10852164" cy="5313866"/>
        </p:xfrm>
        <a:graphic>
          <a:graphicData uri="http://schemas.openxmlformats.org/drawingml/2006/table">
            <a:tbl>
              <a:tblPr/>
              <a:tblGrid>
                <a:gridCol w="3583264">
                  <a:extLst>
                    <a:ext uri="{9D8B030D-6E8A-4147-A177-3AD203B41FA5}">
                      <a16:colId xmlns:a16="http://schemas.microsoft.com/office/drawing/2014/main" val="4061101483"/>
                    </a:ext>
                  </a:extLst>
                </a:gridCol>
                <a:gridCol w="3634450">
                  <a:extLst>
                    <a:ext uri="{9D8B030D-6E8A-4147-A177-3AD203B41FA5}">
                      <a16:colId xmlns:a16="http://schemas.microsoft.com/office/drawing/2014/main" val="1499037303"/>
                    </a:ext>
                  </a:extLst>
                </a:gridCol>
                <a:gridCol w="3634450">
                  <a:extLst>
                    <a:ext uri="{9D8B030D-6E8A-4147-A177-3AD203B41FA5}">
                      <a16:colId xmlns:a16="http://schemas.microsoft.com/office/drawing/2014/main" val="1240095816"/>
                    </a:ext>
                  </a:extLst>
                </a:gridCol>
              </a:tblGrid>
              <a:tr h="228901">
                <a:tc>
                  <a:txBody>
                    <a:bodyPr/>
                    <a:lstStyle/>
                    <a:p>
                      <a:pPr>
                        <a:buNone/>
                      </a:pPr>
                      <a:r>
                        <a:rPr lang="en-IN" sz="1600" b="1"/>
                        <a:t>Existing Problem / Approach</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600" b="1"/>
                        <a:t>Problem Gap Identified</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600" b="1"/>
                        <a:t>Our Proposed Solution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543147572"/>
                  </a:ext>
                </a:extLst>
              </a:tr>
              <a:tr h="1773979">
                <a:tc>
                  <a:txBody>
                    <a:bodyPr/>
                    <a:lstStyle/>
                    <a:p>
                      <a:pPr>
                        <a:buNone/>
                      </a:pPr>
                      <a:r>
                        <a:rPr lang="en-IN" sz="1600" b="1"/>
                        <a:t>1. Manual Research Paper Analysis</a:t>
                      </a:r>
                      <a:r>
                        <a:rPr lang="en-IN" sz="1600"/>
                        <a:t> – Researchers need to read lengthy papers to understand their important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600"/>
                        <a:t>Extracting </a:t>
                      </a:r>
                      <a:r>
                        <a:rPr lang="en-IN" sz="1600" b="1"/>
                        <a:t>summaries, keywords, methodology, findings, limitations, and research insights</a:t>
                      </a:r>
                      <a:r>
                        <a:rPr lang="en-IN" sz="1600"/>
                        <a:t> manually is time-consuming.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600" b="1"/>
                        <a:t>AI-Powered Research Analysis</a:t>
                      </a:r>
                      <a:r>
                        <a:rPr lang="en-IN" sz="1600"/>
                        <a:t> – Uses AI to automatically analyze papers and provide </a:t>
                      </a:r>
                      <a:r>
                        <a:rPr lang="en-IN" sz="1600" b="1"/>
                        <a:t>structured research insights</a:t>
                      </a:r>
                      <a:r>
                        <a:rPr lang="en-IN" sz="16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68024174"/>
                  </a:ext>
                </a:extLst>
              </a:tr>
              <a:tr h="1430628">
                <a:tc>
                  <a:txBody>
                    <a:bodyPr/>
                    <a:lstStyle/>
                    <a:p>
                      <a:pPr>
                        <a:buNone/>
                      </a:pPr>
                      <a:r>
                        <a:rPr lang="en-IN" sz="1600" b="1"/>
                        <a:t>2. Difficulty in Discovering Related Research</a:t>
                      </a:r>
                      <a:r>
                        <a:rPr lang="en-IN" sz="1600"/>
                        <a:t> – Researchers often perform separate searches to find papers related to their topic.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Manual searching can make it difficult to discover </a:t>
                      </a:r>
                      <a:r>
                        <a:rPr lang="en-IN" sz="1600" b="1"/>
                        <a:t>relevant and connected research papers</a:t>
                      </a:r>
                      <a:r>
                        <a:rPr lang="en-IN" sz="1600"/>
                        <a:t> efficiently.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Intelligent Research Discovery &amp; Recommendation</a:t>
                      </a:r>
                      <a:r>
                        <a:rPr lang="en-IN" sz="1600"/>
                        <a:t> – Searches research sources and recommends </a:t>
                      </a:r>
                      <a:r>
                        <a:rPr lang="en-IN" sz="1600" b="1"/>
                        <a:t>related papers based on paper content and metadata</a:t>
                      </a:r>
                      <a:r>
                        <a:rPr lang="en-IN" sz="16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7096993"/>
                  </a:ext>
                </a:extLst>
              </a:tr>
              <a:tr h="1773979">
                <a:tc>
                  <a:txBody>
                    <a:bodyPr/>
                    <a:lstStyle/>
                    <a:p>
                      <a:pPr>
                        <a:buNone/>
                      </a:pPr>
                      <a:r>
                        <a:rPr lang="en-IN" sz="1600" b="1"/>
                        <a:t>3. Lack of Cloud-Native Research Platforms</a:t>
                      </a:r>
                      <a:r>
                        <a:rPr lang="en-IN" sz="1600"/>
                        <a:t> – Many research applications focus mainly on search or analysis without a complete cloud-native architecture.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600"/>
                        <a:t>Limited support for </a:t>
                      </a:r>
                      <a:r>
                        <a:rPr lang="en-IN" sz="1600" b="1"/>
                        <a:t>scalability, independent service deployment, reliability, monitoring, and cloud-based storage</a:t>
                      </a:r>
                      <a:r>
                        <a:rPr lang="en-IN" sz="16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600" b="1" dirty="0"/>
                        <a:t>Cloud-Native Architecture</a:t>
                      </a:r>
                      <a:r>
                        <a:rPr lang="en-IN" sz="1600" dirty="0"/>
                        <a:t> – Uses </a:t>
                      </a:r>
                      <a:r>
                        <a:rPr lang="en-IN" sz="1600" b="1" dirty="0"/>
                        <a:t>microservices, Docker, Kubernetes, AWS EKS, AWS S3, ECR and CloudWatch</a:t>
                      </a:r>
                      <a:r>
                        <a:rPr lang="en-IN" sz="1600" dirty="0"/>
                        <a:t> to build a scalable 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43387076"/>
                  </a:ext>
                </a:extLst>
              </a:tr>
            </a:tbl>
          </a:graphicData>
        </a:graphic>
      </p:graphicFrame>
    </p:spTree>
    <p:extLst>
      <p:ext uri="{BB962C8B-B14F-4D97-AF65-F5344CB8AC3E}">
        <p14:creationId xmlns:p14="http://schemas.microsoft.com/office/powerpoint/2010/main" val="3587322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108788A6-87D6-D1AD-CD09-882273D2CDE8}"/>
              </a:ext>
            </a:extLst>
          </p:cNvPr>
          <p:cNvSpPr>
            <a:spLocks noGrp="1"/>
          </p:cNvSpPr>
          <p:nvPr>
            <p:ph type="dt" sz="half" idx="10"/>
          </p:nvPr>
        </p:nvSpPr>
        <p:spPr/>
        <p:txBody>
          <a:bodyPr/>
          <a:lstStyle/>
          <a:p>
            <a:fld id="{88307372-858C-407E-BE6C-A502C5465DE1}" type="datetime4">
              <a:rPr lang="en-US" smtClean="0"/>
              <a:t>September 22, 2026</a:t>
            </a:fld>
            <a:endParaRPr lang="en-US"/>
          </a:p>
        </p:txBody>
      </p:sp>
      <p:sp>
        <p:nvSpPr>
          <p:cNvPr id="4" name="Footer Placeholder 3">
            <a:extLst>
              <a:ext uri="{FF2B5EF4-FFF2-40B4-BE49-F238E27FC236}">
                <a16:creationId xmlns:a16="http://schemas.microsoft.com/office/drawing/2014/main" id="{6964A259-1A89-35BF-04C0-AB6DECF4E007}"/>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0295C214-DB26-4476-F790-7E558BB673EA}"/>
              </a:ext>
            </a:extLst>
          </p:cNvPr>
          <p:cNvSpPr>
            <a:spLocks noGrp="1"/>
          </p:cNvSpPr>
          <p:nvPr>
            <p:ph type="sldNum" sz="quarter" idx="12"/>
          </p:nvPr>
        </p:nvSpPr>
        <p:spPr/>
        <p:txBody>
          <a:bodyPr/>
          <a:lstStyle/>
          <a:p>
            <a:fld id="{E639234F-78F1-4984-9C4D-D4C7AB587871}" type="slidenum">
              <a:rPr lang="en-US" smtClean="0"/>
              <a:t>8</a:t>
            </a:fld>
            <a:endParaRPr lang="en-US"/>
          </a:p>
        </p:txBody>
      </p:sp>
      <p:sp>
        <p:nvSpPr>
          <p:cNvPr id="8" name="Rectangle: Rounded Corners 7">
            <a:extLst>
              <a:ext uri="{FF2B5EF4-FFF2-40B4-BE49-F238E27FC236}">
                <a16:creationId xmlns:a16="http://schemas.microsoft.com/office/drawing/2014/main" id="{26FE5EF9-EC7B-4BF5-92FE-E68EC6C8C5B2}"/>
              </a:ext>
            </a:extLst>
          </p:cNvPr>
          <p:cNvSpPr/>
          <p:nvPr/>
        </p:nvSpPr>
        <p:spPr>
          <a:xfrm>
            <a:off x="2448026" y="136525"/>
            <a:ext cx="7177238" cy="69667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Innovation, Creativity, and Novelty</a:t>
            </a:r>
          </a:p>
        </p:txBody>
      </p:sp>
      <p:sp>
        <p:nvSpPr>
          <p:cNvPr id="9" name="TextBox 8">
            <a:extLst>
              <a:ext uri="{FF2B5EF4-FFF2-40B4-BE49-F238E27FC236}">
                <a16:creationId xmlns:a16="http://schemas.microsoft.com/office/drawing/2014/main" id="{4680CB9B-5CC9-F818-F641-D020737330CA}"/>
              </a:ext>
            </a:extLst>
          </p:cNvPr>
          <p:cNvSpPr txBox="1"/>
          <p:nvPr/>
        </p:nvSpPr>
        <p:spPr>
          <a:xfrm>
            <a:off x="616858" y="1055619"/>
            <a:ext cx="12200783" cy="5078313"/>
          </a:xfrm>
          <a:prstGeom prst="rect">
            <a:avLst/>
          </a:prstGeom>
          <a:noFill/>
        </p:spPr>
        <p:txBody>
          <a:bodyPr wrap="square" rtlCol="0">
            <a:spAutoFit/>
          </a:bodyPr>
          <a:lstStyle/>
          <a:p>
            <a:r>
              <a:rPr lang="en-IN" b="1" dirty="0"/>
              <a:t>Innovation</a:t>
            </a:r>
          </a:p>
          <a:p>
            <a:pPr lvl="0"/>
            <a:r>
              <a:rPr lang="en-IN" dirty="0"/>
              <a:t>Combines </a:t>
            </a:r>
            <a:r>
              <a:rPr lang="en-IN" b="1" dirty="0"/>
              <a:t>AI research discovery and analysis</a:t>
            </a:r>
            <a:r>
              <a:rPr lang="en-IN" dirty="0"/>
              <a:t> in one platform. </a:t>
            </a:r>
          </a:p>
          <a:p>
            <a:pPr lvl="0"/>
            <a:r>
              <a:rPr lang="en-IN" dirty="0"/>
              <a:t>Integrates </a:t>
            </a:r>
            <a:r>
              <a:rPr lang="en-IN" b="1" dirty="0"/>
              <a:t>research APIs with AI services</a:t>
            </a:r>
            <a:r>
              <a:rPr lang="en-IN" dirty="0"/>
              <a:t>. </a:t>
            </a:r>
          </a:p>
          <a:p>
            <a:pPr lvl="0"/>
            <a:r>
              <a:rPr lang="en-IN" dirty="0"/>
              <a:t>Uses </a:t>
            </a:r>
            <a:r>
              <a:rPr lang="en-IN" b="1" dirty="0"/>
              <a:t>microservices architecture</a:t>
            </a:r>
            <a:r>
              <a:rPr lang="en-IN" dirty="0"/>
              <a:t> for modular development. </a:t>
            </a:r>
          </a:p>
          <a:p>
            <a:pPr lvl="0"/>
            <a:r>
              <a:rPr lang="en-IN" dirty="0"/>
              <a:t>Supports </a:t>
            </a:r>
            <a:r>
              <a:rPr lang="en-IN" b="1" dirty="0"/>
              <a:t>scalable cloud-based research workflows</a:t>
            </a:r>
            <a:r>
              <a:rPr lang="en-IN" dirty="0"/>
              <a:t>. </a:t>
            </a:r>
          </a:p>
          <a:p>
            <a:pPr lvl="0"/>
            <a:endParaRPr lang="en-IN" dirty="0"/>
          </a:p>
          <a:p>
            <a:r>
              <a:rPr lang="en-IN" b="1" dirty="0"/>
              <a:t>Creativity</a:t>
            </a:r>
          </a:p>
          <a:p>
            <a:pPr lvl="0"/>
            <a:r>
              <a:rPr lang="en-IN" dirty="0"/>
              <a:t>Generates </a:t>
            </a:r>
            <a:r>
              <a:rPr lang="en-IN" b="1" dirty="0"/>
              <a:t>AI summaries, keywords, and research insights</a:t>
            </a:r>
            <a:r>
              <a:rPr lang="en-IN" dirty="0"/>
              <a:t>. </a:t>
            </a:r>
          </a:p>
          <a:p>
            <a:pPr lvl="0"/>
            <a:r>
              <a:rPr lang="en-IN" dirty="0"/>
              <a:t>Recommends </a:t>
            </a:r>
            <a:r>
              <a:rPr lang="en-IN" b="1" dirty="0"/>
              <a:t>related research papers</a:t>
            </a:r>
            <a:r>
              <a:rPr lang="en-IN" dirty="0"/>
              <a:t> automatically. </a:t>
            </a:r>
          </a:p>
          <a:p>
            <a:pPr lvl="0"/>
            <a:r>
              <a:rPr lang="en-IN" dirty="0"/>
              <a:t>Provides </a:t>
            </a:r>
            <a:r>
              <a:rPr lang="en-IN" b="1" dirty="0"/>
              <a:t>paper comparison and research organization</a:t>
            </a:r>
            <a:r>
              <a:rPr lang="en-IN" dirty="0"/>
              <a:t>. </a:t>
            </a:r>
          </a:p>
          <a:p>
            <a:pPr lvl="0"/>
            <a:r>
              <a:rPr lang="en-IN" dirty="0"/>
              <a:t>Includes </a:t>
            </a:r>
            <a:r>
              <a:rPr lang="en-IN" b="1" dirty="0"/>
              <a:t>bookmarks, collections, and search history</a:t>
            </a:r>
            <a:r>
              <a:rPr lang="en-IN" dirty="0"/>
              <a:t>. </a:t>
            </a:r>
          </a:p>
          <a:p>
            <a:pPr lvl="0"/>
            <a:endParaRPr lang="en-IN" dirty="0"/>
          </a:p>
          <a:p>
            <a:r>
              <a:rPr lang="en-IN" b="1" dirty="0"/>
              <a:t>Novelty</a:t>
            </a:r>
          </a:p>
          <a:p>
            <a:pPr lvl="0"/>
            <a:r>
              <a:rPr lang="en-IN" dirty="0"/>
              <a:t>Integrates </a:t>
            </a:r>
            <a:r>
              <a:rPr lang="en-IN" b="1" dirty="0"/>
              <a:t>Research Discovery + AI Analysis + Cloud-Native Architecture</a:t>
            </a:r>
            <a:r>
              <a:rPr lang="en-IN" dirty="0"/>
              <a:t>. </a:t>
            </a:r>
          </a:p>
          <a:p>
            <a:pPr lvl="0"/>
            <a:r>
              <a:rPr lang="en-IN" dirty="0"/>
              <a:t>Uses </a:t>
            </a:r>
            <a:r>
              <a:rPr lang="en-IN" b="1" dirty="0"/>
              <a:t>Docker and Kubernetes</a:t>
            </a:r>
            <a:r>
              <a:rPr lang="en-IN" dirty="0"/>
              <a:t> for containerized deployment. </a:t>
            </a:r>
          </a:p>
          <a:p>
            <a:pPr lvl="0"/>
            <a:r>
              <a:rPr lang="en-IN" dirty="0"/>
              <a:t>Uses </a:t>
            </a:r>
            <a:r>
              <a:rPr lang="en-IN" b="1" dirty="0"/>
              <a:t>AWS S3, MongoDB Atlas, and AWS EKS</a:t>
            </a:r>
            <a:r>
              <a:rPr lang="en-IN" dirty="0"/>
              <a:t>. </a:t>
            </a:r>
          </a:p>
          <a:p>
            <a:pPr lvl="0"/>
            <a:r>
              <a:rPr lang="en-IN" dirty="0"/>
              <a:t>Combines </a:t>
            </a:r>
            <a:r>
              <a:rPr lang="en-IN" b="1" dirty="0"/>
              <a:t>AI, cloud storage, and orchestration</a:t>
            </a:r>
            <a:r>
              <a:rPr lang="en-IN" dirty="0"/>
              <a:t>. </a:t>
            </a:r>
          </a:p>
          <a:p>
            <a:pPr lvl="0"/>
            <a:r>
              <a:rPr lang="en-IN" dirty="0"/>
              <a:t>Provides an </a:t>
            </a:r>
            <a:r>
              <a:rPr lang="en-IN" b="1" dirty="0"/>
              <a:t>end-to-end cloud-native AI research platform</a:t>
            </a:r>
            <a:r>
              <a:rPr lang="en-IN" dirty="0"/>
              <a:t>. </a:t>
            </a:r>
          </a:p>
        </p:txBody>
      </p:sp>
    </p:spTree>
    <p:extLst>
      <p:ext uri="{BB962C8B-B14F-4D97-AF65-F5344CB8AC3E}">
        <p14:creationId xmlns:p14="http://schemas.microsoft.com/office/powerpoint/2010/main" val="352413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FF4C5B-20A8-5D0A-7202-600462222593}"/>
              </a:ext>
            </a:extLst>
          </p:cNvPr>
          <p:cNvSpPr>
            <a:spLocks noGrp="1"/>
          </p:cNvSpPr>
          <p:nvPr>
            <p:ph type="dt" sz="half" idx="10"/>
          </p:nvPr>
        </p:nvSpPr>
        <p:spPr/>
        <p:txBody>
          <a:bodyPr/>
          <a:lstStyle/>
          <a:p>
            <a:fld id="{9D111484-8254-4818-B956-B01FC4C0B0D3}" type="datetime4">
              <a:rPr lang="en-US" smtClean="0"/>
              <a:t>September 22, 2026</a:t>
            </a:fld>
            <a:endParaRPr lang="en-US"/>
          </a:p>
        </p:txBody>
      </p:sp>
      <p:sp>
        <p:nvSpPr>
          <p:cNvPr id="3" name="Footer Placeholder 2">
            <a:extLst>
              <a:ext uri="{FF2B5EF4-FFF2-40B4-BE49-F238E27FC236}">
                <a16:creationId xmlns:a16="http://schemas.microsoft.com/office/drawing/2014/main" id="{2EBC748F-5ABC-E062-A141-1EF608D4D334}"/>
              </a:ext>
            </a:extLst>
          </p:cNvPr>
          <p:cNvSpPr>
            <a:spLocks noGrp="1"/>
          </p:cNvSpPr>
          <p:nvPr>
            <p:ph type="ftr" sz="quarter" idx="11"/>
          </p:nvPr>
        </p:nvSpPr>
        <p:spPr/>
        <p:txBody>
          <a:bodyPr/>
          <a:lstStyle/>
          <a:p>
            <a:r>
              <a:rPr lang="en-US"/>
              <a:t>CNAD Project Review-2</a:t>
            </a:r>
          </a:p>
        </p:txBody>
      </p:sp>
      <p:sp>
        <p:nvSpPr>
          <p:cNvPr id="4" name="Slide Number Placeholder 3">
            <a:extLst>
              <a:ext uri="{FF2B5EF4-FFF2-40B4-BE49-F238E27FC236}">
                <a16:creationId xmlns:a16="http://schemas.microsoft.com/office/drawing/2014/main" id="{C8E78581-173C-55EE-D3DB-AD5A8D2A9153}"/>
              </a:ext>
            </a:extLst>
          </p:cNvPr>
          <p:cNvSpPr>
            <a:spLocks noGrp="1"/>
          </p:cNvSpPr>
          <p:nvPr>
            <p:ph type="sldNum" sz="quarter" idx="12"/>
          </p:nvPr>
        </p:nvSpPr>
        <p:spPr/>
        <p:txBody>
          <a:bodyPr/>
          <a:lstStyle/>
          <a:p>
            <a:fld id="{E639234F-78F1-4984-9C4D-D4C7AB587871}" type="slidenum">
              <a:rPr lang="en-US" smtClean="0"/>
              <a:t>9</a:t>
            </a:fld>
            <a:endParaRPr lang="en-US"/>
          </a:p>
        </p:txBody>
      </p:sp>
      <p:sp>
        <p:nvSpPr>
          <p:cNvPr id="5" name="TextBox 4">
            <a:extLst>
              <a:ext uri="{FF2B5EF4-FFF2-40B4-BE49-F238E27FC236}">
                <a16:creationId xmlns:a16="http://schemas.microsoft.com/office/drawing/2014/main" id="{B4E0F953-97D8-F391-C19E-BC29E2107EE0}"/>
              </a:ext>
            </a:extLst>
          </p:cNvPr>
          <p:cNvSpPr txBox="1"/>
          <p:nvPr/>
        </p:nvSpPr>
        <p:spPr>
          <a:xfrm>
            <a:off x="561474" y="812165"/>
            <a:ext cx="10972800" cy="5909310"/>
          </a:xfrm>
          <a:prstGeom prst="rect">
            <a:avLst/>
          </a:prstGeom>
          <a:noFill/>
        </p:spPr>
        <p:txBody>
          <a:bodyPr wrap="square" rtlCol="0">
            <a:spAutoFit/>
          </a:bodyPr>
          <a:lstStyle/>
          <a:p>
            <a:r>
              <a:rPr lang="en-IN" b="1" dirty="0"/>
              <a:t>Problem Definition</a:t>
            </a:r>
          </a:p>
          <a:p>
            <a:pPr lvl="0"/>
            <a:r>
              <a:rPr lang="en-IN" dirty="0"/>
              <a:t>Researchers need to search through </a:t>
            </a:r>
            <a:r>
              <a:rPr lang="en-IN" b="1" dirty="0"/>
              <a:t>multiple academic sources</a:t>
            </a:r>
            <a:r>
              <a:rPr lang="en-IN" dirty="0"/>
              <a:t> to find relevant papers. </a:t>
            </a:r>
          </a:p>
          <a:p>
            <a:pPr lvl="0"/>
            <a:r>
              <a:rPr lang="en-IN" dirty="0"/>
              <a:t>Understanding </a:t>
            </a:r>
            <a:r>
              <a:rPr lang="en-IN" b="1" dirty="0"/>
              <a:t>lengthy research papers</a:t>
            </a:r>
            <a:r>
              <a:rPr lang="en-IN" dirty="0"/>
              <a:t> and extracting important information is time-consuming. </a:t>
            </a:r>
          </a:p>
          <a:p>
            <a:pPr lvl="0"/>
            <a:r>
              <a:rPr lang="en-IN" dirty="0"/>
              <a:t>Finding </a:t>
            </a:r>
            <a:r>
              <a:rPr lang="en-IN" b="1" dirty="0"/>
              <a:t>related research papers and research insights</a:t>
            </a:r>
            <a:r>
              <a:rPr lang="en-IN" dirty="0"/>
              <a:t> manually is difficult. </a:t>
            </a:r>
          </a:p>
          <a:p>
            <a:pPr lvl="0"/>
            <a:r>
              <a:rPr lang="en-IN" dirty="0"/>
              <a:t>Existing solutions do not provide a </a:t>
            </a:r>
            <a:r>
              <a:rPr lang="en-IN" b="1" dirty="0"/>
              <a:t>single integrated research discovery and AI analysis platform</a:t>
            </a:r>
            <a:r>
              <a:rPr lang="en-IN" dirty="0"/>
              <a:t>. </a:t>
            </a:r>
          </a:p>
          <a:p>
            <a:pPr lvl="0"/>
            <a:r>
              <a:rPr lang="en-IN" dirty="0"/>
              <a:t>There is a need for a </a:t>
            </a:r>
            <a:r>
              <a:rPr lang="en-IN" b="1" dirty="0"/>
              <a:t>scalable cloud-native platform</a:t>
            </a:r>
            <a:r>
              <a:rPr lang="en-IN" dirty="0"/>
              <a:t> for research discovery, analysis, and management. </a:t>
            </a:r>
          </a:p>
          <a:p>
            <a:endParaRPr lang="en-IN" b="1" dirty="0"/>
          </a:p>
          <a:p>
            <a:r>
              <a:rPr lang="en-IN" b="1" dirty="0"/>
              <a:t>Functional Requirements</a:t>
            </a:r>
          </a:p>
          <a:p>
            <a:pPr lvl="0"/>
            <a:r>
              <a:rPr lang="en-IN" dirty="0"/>
              <a:t>User </a:t>
            </a:r>
            <a:r>
              <a:rPr lang="en-IN" b="1" dirty="0"/>
              <a:t>registration, login, and authentication</a:t>
            </a:r>
            <a:r>
              <a:rPr lang="en-IN" dirty="0"/>
              <a:t>. </a:t>
            </a:r>
          </a:p>
          <a:p>
            <a:pPr lvl="0"/>
            <a:r>
              <a:rPr lang="en-IN" b="1" dirty="0"/>
              <a:t>Research-paper search and discovery</a:t>
            </a:r>
            <a:r>
              <a:rPr lang="en-IN" dirty="0"/>
              <a:t> using research APIs. </a:t>
            </a:r>
          </a:p>
          <a:p>
            <a:pPr lvl="0"/>
            <a:r>
              <a:rPr lang="en-IN" b="1" dirty="0"/>
              <a:t>PDF upload, storage, and text extraction</a:t>
            </a:r>
            <a:r>
              <a:rPr lang="en-IN" dirty="0"/>
              <a:t>. </a:t>
            </a:r>
          </a:p>
          <a:p>
            <a:pPr lvl="0"/>
            <a:r>
              <a:rPr lang="en-IN" dirty="0"/>
              <a:t>AI-based </a:t>
            </a:r>
            <a:r>
              <a:rPr lang="en-IN" b="1" dirty="0"/>
              <a:t>summary, keyword, concept, methodology, findings, and limitation extraction</a:t>
            </a:r>
            <a:r>
              <a:rPr lang="en-IN" dirty="0"/>
              <a:t>. </a:t>
            </a:r>
          </a:p>
          <a:p>
            <a:pPr lvl="0"/>
            <a:r>
              <a:rPr lang="en-IN" b="1" dirty="0"/>
              <a:t>Related-paper recommendations and paper comparison</a:t>
            </a:r>
            <a:r>
              <a:rPr lang="en-IN" dirty="0"/>
              <a:t>. </a:t>
            </a:r>
          </a:p>
          <a:p>
            <a:pPr lvl="0"/>
            <a:r>
              <a:rPr lang="en-IN" b="1" dirty="0"/>
              <a:t>Bookmarks, collections, and search history</a:t>
            </a:r>
            <a:r>
              <a:rPr lang="en-IN" dirty="0"/>
              <a:t>. </a:t>
            </a:r>
          </a:p>
          <a:p>
            <a:endParaRPr lang="en-IN" b="1" dirty="0"/>
          </a:p>
          <a:p>
            <a:r>
              <a:rPr lang="en-IN" b="1" dirty="0"/>
              <a:t>Non-Functional Requirements</a:t>
            </a:r>
          </a:p>
          <a:p>
            <a:pPr lvl="0"/>
            <a:r>
              <a:rPr lang="en-IN" b="1" dirty="0"/>
              <a:t>Scalability</a:t>
            </a:r>
            <a:r>
              <a:rPr lang="en-IN" dirty="0"/>
              <a:t> using Docker, Kubernetes, and AWS EKS. </a:t>
            </a:r>
          </a:p>
          <a:p>
            <a:pPr lvl="0"/>
            <a:r>
              <a:rPr lang="en-IN" b="1" dirty="0"/>
              <a:t>Cloud storage</a:t>
            </a:r>
            <a:r>
              <a:rPr lang="en-IN" dirty="0"/>
              <a:t> using AWS S3 and cloud database using MongoDB Atlas. </a:t>
            </a:r>
          </a:p>
          <a:p>
            <a:pPr lvl="0"/>
            <a:r>
              <a:rPr lang="en-IN" b="1" dirty="0"/>
              <a:t>Security</a:t>
            </a:r>
            <a:r>
              <a:rPr lang="en-IN" dirty="0"/>
              <a:t> through authentication, validation, and secure environment variables. </a:t>
            </a:r>
          </a:p>
          <a:p>
            <a:pPr lvl="0"/>
            <a:r>
              <a:rPr lang="en-IN" b="1" dirty="0"/>
              <a:t>Reliability and monitoring</a:t>
            </a:r>
            <a:r>
              <a:rPr lang="en-IN" dirty="0"/>
              <a:t> using Kubernetes and AWS CloudWatch.</a:t>
            </a:r>
          </a:p>
          <a:p>
            <a:endParaRPr lang="en-IN" dirty="0"/>
          </a:p>
        </p:txBody>
      </p:sp>
      <p:sp>
        <p:nvSpPr>
          <p:cNvPr id="9" name="Rectangle: Rounded Corners 8">
            <a:extLst>
              <a:ext uri="{FF2B5EF4-FFF2-40B4-BE49-F238E27FC236}">
                <a16:creationId xmlns:a16="http://schemas.microsoft.com/office/drawing/2014/main" id="{B9A2A832-7C80-203B-B48A-78C17F770986}"/>
              </a:ext>
            </a:extLst>
          </p:cNvPr>
          <p:cNvSpPr/>
          <p:nvPr/>
        </p:nvSpPr>
        <p:spPr>
          <a:xfrm>
            <a:off x="2730366"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Problem Definition &amp; Requirements</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3658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A10A0-0BB4-05C9-E188-34861BD92C0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F0EE84F-603D-452B-C4AA-F8FE367FD700}"/>
              </a:ext>
            </a:extLst>
          </p:cNvPr>
          <p:cNvSpPr>
            <a:spLocks noGrp="1"/>
          </p:cNvSpPr>
          <p:nvPr>
            <p:ph type="dt" sz="half" idx="10"/>
          </p:nvPr>
        </p:nvSpPr>
        <p:spPr/>
        <p:txBody>
          <a:bodyPr/>
          <a:lstStyle/>
          <a:p>
            <a:fld id="{9D111484-8254-4818-B956-B01FC4C0B0D3}" type="datetime4">
              <a:rPr lang="en-US" smtClean="0"/>
              <a:t>September 22, 2026</a:t>
            </a:fld>
            <a:endParaRPr lang="en-US"/>
          </a:p>
        </p:txBody>
      </p:sp>
      <p:sp>
        <p:nvSpPr>
          <p:cNvPr id="3" name="Footer Placeholder 2">
            <a:extLst>
              <a:ext uri="{FF2B5EF4-FFF2-40B4-BE49-F238E27FC236}">
                <a16:creationId xmlns:a16="http://schemas.microsoft.com/office/drawing/2014/main" id="{A6B626DC-6548-4811-B09C-B44B3A537BFF}"/>
              </a:ext>
            </a:extLst>
          </p:cNvPr>
          <p:cNvSpPr>
            <a:spLocks noGrp="1"/>
          </p:cNvSpPr>
          <p:nvPr>
            <p:ph type="ftr" sz="quarter" idx="11"/>
          </p:nvPr>
        </p:nvSpPr>
        <p:spPr/>
        <p:txBody>
          <a:bodyPr/>
          <a:lstStyle/>
          <a:p>
            <a:r>
              <a:rPr lang="en-US"/>
              <a:t>CNAD Project Review-2</a:t>
            </a:r>
          </a:p>
        </p:txBody>
      </p:sp>
      <p:sp>
        <p:nvSpPr>
          <p:cNvPr id="4" name="Slide Number Placeholder 3">
            <a:extLst>
              <a:ext uri="{FF2B5EF4-FFF2-40B4-BE49-F238E27FC236}">
                <a16:creationId xmlns:a16="http://schemas.microsoft.com/office/drawing/2014/main" id="{2CDEABEC-79BE-6ED6-E564-4B612C037B47}"/>
              </a:ext>
            </a:extLst>
          </p:cNvPr>
          <p:cNvSpPr>
            <a:spLocks noGrp="1"/>
          </p:cNvSpPr>
          <p:nvPr>
            <p:ph type="sldNum" sz="quarter" idx="12"/>
          </p:nvPr>
        </p:nvSpPr>
        <p:spPr/>
        <p:txBody>
          <a:bodyPr/>
          <a:lstStyle/>
          <a:p>
            <a:fld id="{E639234F-78F1-4984-9C4D-D4C7AB587871}" type="slidenum">
              <a:rPr lang="en-US" smtClean="0"/>
              <a:t>10</a:t>
            </a:fld>
            <a:endParaRPr lang="en-US"/>
          </a:p>
        </p:txBody>
      </p:sp>
      <p:sp>
        <p:nvSpPr>
          <p:cNvPr id="6" name="Rectangle: Rounded Corners 5">
            <a:extLst>
              <a:ext uri="{FF2B5EF4-FFF2-40B4-BE49-F238E27FC236}">
                <a16:creationId xmlns:a16="http://schemas.microsoft.com/office/drawing/2014/main" id="{24E95650-F588-E2C7-6161-6B69ED07FF84}"/>
              </a:ext>
            </a:extLst>
          </p:cNvPr>
          <p:cNvSpPr/>
          <p:nvPr/>
        </p:nvSpPr>
        <p:spPr>
          <a:xfrm>
            <a:off x="2730366"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System Architecture and Design</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954F71A-2DE4-7E91-AB98-1524EC37CDBE}"/>
              </a:ext>
            </a:extLst>
          </p:cNvPr>
          <p:cNvSpPr txBox="1"/>
          <p:nvPr/>
        </p:nvSpPr>
        <p:spPr>
          <a:xfrm>
            <a:off x="593558" y="1219200"/>
            <a:ext cx="10760242" cy="5078313"/>
          </a:xfrm>
          <a:prstGeom prst="rect">
            <a:avLst/>
          </a:prstGeom>
          <a:noFill/>
        </p:spPr>
        <p:txBody>
          <a:bodyPr wrap="square" rtlCol="0">
            <a:spAutoFit/>
          </a:bodyPr>
          <a:lstStyle/>
          <a:p>
            <a:pPr marL="285750" lvl="0" indent="-285750">
              <a:buFont typeface="Arial" panose="020B0604020202020204" pitchFamily="34" charset="0"/>
              <a:buChar char="•"/>
            </a:pPr>
            <a:r>
              <a:rPr lang="en-IN" dirty="0"/>
              <a:t>The system follows a </a:t>
            </a:r>
            <a:r>
              <a:rPr lang="en-IN" b="1" dirty="0"/>
              <a:t>cloud-native microservices architecture</a:t>
            </a:r>
            <a:r>
              <a:rPr lang="en-IN" dirty="0"/>
              <a:t>. </a:t>
            </a:r>
          </a:p>
          <a:p>
            <a:pPr marL="285750" lvl="0" indent="-285750">
              <a:buFont typeface="Arial" panose="020B0604020202020204" pitchFamily="34" charset="0"/>
              <a:buChar char="•"/>
            </a:pPr>
            <a:r>
              <a:rPr lang="en-IN" b="1" dirty="0"/>
              <a:t>React.js</a:t>
            </a:r>
            <a:r>
              <a:rPr lang="en-IN" dirty="0"/>
              <a:t> provides the user interface for research discovery and management. </a:t>
            </a:r>
          </a:p>
          <a:p>
            <a:pPr marL="285750" lvl="0" indent="-285750">
              <a:buFont typeface="Arial" panose="020B0604020202020204" pitchFamily="34" charset="0"/>
              <a:buChar char="•"/>
            </a:pPr>
            <a:r>
              <a:rPr lang="en-IN" dirty="0"/>
              <a:t>An </a:t>
            </a:r>
            <a:r>
              <a:rPr lang="en-IN" b="1" dirty="0"/>
              <a:t>API Gateway</a:t>
            </a:r>
            <a:r>
              <a:rPr lang="en-IN" dirty="0"/>
              <a:t> handles requests and routes them to the required services. </a:t>
            </a:r>
          </a:p>
          <a:p>
            <a:pPr marL="285750" lvl="0" indent="-285750">
              <a:buFont typeface="Arial" panose="020B0604020202020204" pitchFamily="34" charset="0"/>
              <a:buChar char="•"/>
            </a:pPr>
            <a:r>
              <a:rPr lang="en-IN" b="1" dirty="0"/>
              <a:t>Authentication, Paper, PDF Processing, AI Analysis, and Search &amp; Recommendation</a:t>
            </a:r>
            <a:r>
              <a:rPr lang="en-IN" dirty="0"/>
              <a:t> are implemented as separate services. </a:t>
            </a:r>
          </a:p>
          <a:p>
            <a:pPr marL="285750" lvl="0" indent="-285750">
              <a:buFont typeface="Arial" panose="020B0604020202020204" pitchFamily="34" charset="0"/>
              <a:buChar char="•"/>
            </a:pPr>
            <a:r>
              <a:rPr lang="en-IN" b="1" dirty="0"/>
              <a:t>MongoDB Atlas</a:t>
            </a:r>
            <a:r>
              <a:rPr lang="en-IN" dirty="0"/>
              <a:t> stores users, papers, AI analyses, bookmarks, collections, and search history. </a:t>
            </a:r>
          </a:p>
          <a:p>
            <a:pPr marL="285750" lvl="0" indent="-285750">
              <a:buFont typeface="Arial" panose="020B0604020202020204" pitchFamily="34" charset="0"/>
              <a:buChar char="•"/>
            </a:pPr>
            <a:r>
              <a:rPr lang="en-IN" b="1" dirty="0"/>
              <a:t>AWS S3</a:t>
            </a:r>
            <a:r>
              <a:rPr lang="en-IN" dirty="0"/>
              <a:t> stores uploaded research-paper PDFs. </a:t>
            </a:r>
          </a:p>
          <a:p>
            <a:pPr marL="285750" lvl="0" indent="-285750">
              <a:buFont typeface="Arial" panose="020B0604020202020204" pitchFamily="34" charset="0"/>
              <a:buChar char="•"/>
            </a:pPr>
            <a:r>
              <a:rPr lang="en-IN" b="1" dirty="0" err="1"/>
              <a:t>OpenAlex</a:t>
            </a:r>
            <a:r>
              <a:rPr lang="en-IN" dirty="0"/>
              <a:t> provides external research-paper metadata for discovery. </a:t>
            </a:r>
          </a:p>
          <a:p>
            <a:pPr marL="285750" lvl="0" indent="-285750">
              <a:buFont typeface="Arial" panose="020B0604020202020204" pitchFamily="34" charset="0"/>
              <a:buChar char="•"/>
            </a:pPr>
            <a:r>
              <a:rPr lang="en-IN" b="1" dirty="0" err="1"/>
              <a:t>FastAPI</a:t>
            </a:r>
            <a:r>
              <a:rPr lang="en-IN" b="1" dirty="0"/>
              <a:t> + </a:t>
            </a:r>
            <a:r>
              <a:rPr lang="en-IN" b="1" dirty="0" err="1"/>
              <a:t>PyMuPDF</a:t>
            </a:r>
            <a:r>
              <a:rPr lang="en-IN" dirty="0"/>
              <a:t> handles PDF text extraction and </a:t>
            </a:r>
            <a:r>
              <a:rPr lang="en-IN" b="1" dirty="0"/>
              <a:t>AI services</a:t>
            </a:r>
            <a:r>
              <a:rPr lang="en-IN" dirty="0"/>
              <a:t> perform research-paper analysis. </a:t>
            </a:r>
          </a:p>
          <a:p>
            <a:pPr marL="285750" lvl="0" indent="-285750">
              <a:buFont typeface="Arial" panose="020B0604020202020204" pitchFamily="34" charset="0"/>
              <a:buChar char="•"/>
            </a:pPr>
            <a:r>
              <a:rPr lang="en-IN" dirty="0"/>
              <a:t>Services are </a:t>
            </a:r>
            <a:r>
              <a:rPr lang="en-IN" b="1" dirty="0"/>
              <a:t>containerized using Docker</a:t>
            </a:r>
            <a:r>
              <a:rPr lang="en-IN" dirty="0"/>
              <a:t> and managed using </a:t>
            </a:r>
            <a:r>
              <a:rPr lang="en-IN" b="1" dirty="0"/>
              <a:t>Kubernetes</a:t>
            </a:r>
            <a:r>
              <a:rPr lang="en-IN" dirty="0"/>
              <a:t>. </a:t>
            </a:r>
          </a:p>
          <a:p>
            <a:pPr marL="285750" lvl="0" indent="-285750">
              <a:buFont typeface="Arial" panose="020B0604020202020204" pitchFamily="34" charset="0"/>
              <a:buChar char="•"/>
            </a:pPr>
            <a:r>
              <a:rPr lang="en-IN" b="1" dirty="0"/>
              <a:t>AWS EKS</a:t>
            </a:r>
            <a:r>
              <a:rPr lang="en-IN" dirty="0"/>
              <a:t> provides the cloud Kubernetes environment, with </a:t>
            </a:r>
            <a:r>
              <a:rPr lang="en-IN" b="1" dirty="0"/>
              <a:t>ECR</a:t>
            </a:r>
            <a:r>
              <a:rPr lang="en-IN" dirty="0"/>
              <a:t> for container images and </a:t>
            </a:r>
            <a:r>
              <a:rPr lang="en-IN" b="1" dirty="0"/>
              <a:t>CloudWatch</a:t>
            </a:r>
            <a:r>
              <a:rPr lang="en-IN" dirty="0"/>
              <a:t> for monitoring.</a:t>
            </a:r>
          </a:p>
          <a:p>
            <a:pPr marL="285750" lvl="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Architecture Flow</a:t>
            </a:r>
          </a:p>
          <a:p>
            <a:r>
              <a:rPr lang="en-IN" b="1" dirty="0"/>
              <a:t>User → React Frontend → API Gateway → Microservices → MongoDB Atlas / AWS S3 / </a:t>
            </a:r>
            <a:r>
              <a:rPr lang="en-IN" b="1" dirty="0" err="1"/>
              <a:t>OpenAlex</a:t>
            </a:r>
            <a:r>
              <a:rPr lang="en-IN" b="1" dirty="0"/>
              <a:t> / AI API</a:t>
            </a:r>
            <a:endParaRPr lang="en-IN" dirty="0"/>
          </a:p>
          <a:p>
            <a:r>
              <a:rPr lang="en-IN" b="1" dirty="0"/>
              <a:t>Docker → Kubernetes → AWS EKS → Cloud Monitoring</a:t>
            </a:r>
            <a:endParaRPr lang="en-IN" dirty="0"/>
          </a:p>
          <a:p>
            <a:pPr marL="285750" lvl="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62080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2C116-07D0-A5E9-2DA9-03E0766B8B0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86CEC8A-5DF2-688D-92E3-EA11F6FF108E}"/>
              </a:ext>
            </a:extLst>
          </p:cNvPr>
          <p:cNvSpPr>
            <a:spLocks noGrp="1"/>
          </p:cNvSpPr>
          <p:nvPr>
            <p:ph type="dt" sz="half" idx="10"/>
          </p:nvPr>
        </p:nvSpPr>
        <p:spPr/>
        <p:txBody>
          <a:bodyPr/>
          <a:lstStyle/>
          <a:p>
            <a:fld id="{9D111484-8254-4818-B956-B01FC4C0B0D3}" type="datetime4">
              <a:rPr lang="en-US" smtClean="0"/>
              <a:t>September 22, 2026</a:t>
            </a:fld>
            <a:endParaRPr lang="en-US"/>
          </a:p>
        </p:txBody>
      </p:sp>
      <p:sp>
        <p:nvSpPr>
          <p:cNvPr id="3" name="Footer Placeholder 2">
            <a:extLst>
              <a:ext uri="{FF2B5EF4-FFF2-40B4-BE49-F238E27FC236}">
                <a16:creationId xmlns:a16="http://schemas.microsoft.com/office/drawing/2014/main" id="{1BBBAA21-F418-4DD9-BC8F-B826CEDA8D41}"/>
              </a:ext>
            </a:extLst>
          </p:cNvPr>
          <p:cNvSpPr>
            <a:spLocks noGrp="1"/>
          </p:cNvSpPr>
          <p:nvPr>
            <p:ph type="ftr" sz="quarter" idx="11"/>
          </p:nvPr>
        </p:nvSpPr>
        <p:spPr/>
        <p:txBody>
          <a:bodyPr/>
          <a:lstStyle/>
          <a:p>
            <a:r>
              <a:rPr lang="en-US"/>
              <a:t>CNAD Project Review-2</a:t>
            </a:r>
          </a:p>
        </p:txBody>
      </p:sp>
      <p:sp>
        <p:nvSpPr>
          <p:cNvPr id="4" name="Slide Number Placeholder 3">
            <a:extLst>
              <a:ext uri="{FF2B5EF4-FFF2-40B4-BE49-F238E27FC236}">
                <a16:creationId xmlns:a16="http://schemas.microsoft.com/office/drawing/2014/main" id="{7039F016-1BFE-EA93-8D33-865691D21B33}"/>
              </a:ext>
            </a:extLst>
          </p:cNvPr>
          <p:cNvSpPr>
            <a:spLocks noGrp="1"/>
          </p:cNvSpPr>
          <p:nvPr>
            <p:ph type="sldNum" sz="quarter" idx="12"/>
          </p:nvPr>
        </p:nvSpPr>
        <p:spPr/>
        <p:txBody>
          <a:bodyPr/>
          <a:lstStyle/>
          <a:p>
            <a:fld id="{E639234F-78F1-4984-9C4D-D4C7AB587871}" type="slidenum">
              <a:rPr lang="en-US" smtClean="0"/>
              <a:t>11</a:t>
            </a:fld>
            <a:endParaRPr lang="en-US"/>
          </a:p>
        </p:txBody>
      </p:sp>
      <p:pic>
        <p:nvPicPr>
          <p:cNvPr id="6" name="Picture 5">
            <a:extLst>
              <a:ext uri="{FF2B5EF4-FFF2-40B4-BE49-F238E27FC236}">
                <a16:creationId xmlns:a16="http://schemas.microsoft.com/office/drawing/2014/main" id="{96EBCC18-033B-7CB3-ECB8-5A216ED5B6FD}"/>
              </a:ext>
            </a:extLst>
          </p:cNvPr>
          <p:cNvPicPr>
            <a:picLocks noChangeAspect="1"/>
          </p:cNvPicPr>
          <p:nvPr/>
        </p:nvPicPr>
        <p:blipFill>
          <a:blip r:embed="rId2"/>
          <a:stretch>
            <a:fillRect/>
          </a:stretch>
        </p:blipFill>
        <p:spPr>
          <a:xfrm>
            <a:off x="1839829" y="365125"/>
            <a:ext cx="8512342" cy="5674895"/>
          </a:xfrm>
          <a:prstGeom prst="rect">
            <a:avLst/>
          </a:prstGeom>
        </p:spPr>
      </p:pic>
    </p:spTree>
    <p:extLst>
      <p:ext uri="{BB962C8B-B14F-4D97-AF65-F5344CB8AC3E}">
        <p14:creationId xmlns:p14="http://schemas.microsoft.com/office/powerpoint/2010/main" val="221390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4AE6D-4C22-96E2-B5AC-509AA8552F8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05BEB44-4D5A-D705-A714-3FDB7BE21E5A}"/>
              </a:ext>
            </a:extLst>
          </p:cNvPr>
          <p:cNvSpPr>
            <a:spLocks noGrp="1"/>
          </p:cNvSpPr>
          <p:nvPr>
            <p:ph type="dt" sz="half" idx="10"/>
          </p:nvPr>
        </p:nvSpPr>
        <p:spPr/>
        <p:txBody>
          <a:bodyPr/>
          <a:lstStyle/>
          <a:p>
            <a:fld id="{9D111484-8254-4818-B956-B01FC4C0B0D3}" type="datetime4">
              <a:rPr lang="en-US" smtClean="0"/>
              <a:t>September 22, 2026</a:t>
            </a:fld>
            <a:endParaRPr lang="en-US"/>
          </a:p>
        </p:txBody>
      </p:sp>
      <p:sp>
        <p:nvSpPr>
          <p:cNvPr id="3" name="Footer Placeholder 2">
            <a:extLst>
              <a:ext uri="{FF2B5EF4-FFF2-40B4-BE49-F238E27FC236}">
                <a16:creationId xmlns:a16="http://schemas.microsoft.com/office/drawing/2014/main" id="{88A6B413-DD91-F550-4323-1CA6FAA30D80}"/>
              </a:ext>
            </a:extLst>
          </p:cNvPr>
          <p:cNvSpPr>
            <a:spLocks noGrp="1"/>
          </p:cNvSpPr>
          <p:nvPr>
            <p:ph type="ftr" sz="quarter" idx="11"/>
          </p:nvPr>
        </p:nvSpPr>
        <p:spPr/>
        <p:txBody>
          <a:bodyPr/>
          <a:lstStyle/>
          <a:p>
            <a:r>
              <a:rPr lang="en-US"/>
              <a:t>CNAD Project Review-2</a:t>
            </a:r>
          </a:p>
        </p:txBody>
      </p:sp>
      <p:sp>
        <p:nvSpPr>
          <p:cNvPr id="4" name="Slide Number Placeholder 3">
            <a:extLst>
              <a:ext uri="{FF2B5EF4-FFF2-40B4-BE49-F238E27FC236}">
                <a16:creationId xmlns:a16="http://schemas.microsoft.com/office/drawing/2014/main" id="{12226688-0851-BDB7-6836-E3303E12F97C}"/>
              </a:ext>
            </a:extLst>
          </p:cNvPr>
          <p:cNvSpPr>
            <a:spLocks noGrp="1"/>
          </p:cNvSpPr>
          <p:nvPr>
            <p:ph type="sldNum" sz="quarter" idx="12"/>
          </p:nvPr>
        </p:nvSpPr>
        <p:spPr/>
        <p:txBody>
          <a:bodyPr/>
          <a:lstStyle/>
          <a:p>
            <a:fld id="{E639234F-78F1-4984-9C4D-D4C7AB587871}" type="slidenum">
              <a:rPr lang="en-US" smtClean="0"/>
              <a:t>12</a:t>
            </a:fld>
            <a:endParaRPr lang="en-US"/>
          </a:p>
        </p:txBody>
      </p:sp>
      <p:sp>
        <p:nvSpPr>
          <p:cNvPr id="6" name="Rectangle: Rounded Corners 5">
            <a:extLst>
              <a:ext uri="{FF2B5EF4-FFF2-40B4-BE49-F238E27FC236}">
                <a16:creationId xmlns:a16="http://schemas.microsoft.com/office/drawing/2014/main" id="{D5BCB005-59AB-26C9-EDD4-153B50CF10F8}"/>
              </a:ext>
            </a:extLst>
          </p:cNvPr>
          <p:cNvSpPr/>
          <p:nvPr/>
        </p:nvSpPr>
        <p:spPr>
          <a:xfrm>
            <a:off x="2730366"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Module Integration</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27FF1B2-C2F2-251A-2F43-9F9678527BF4}"/>
              </a:ext>
            </a:extLst>
          </p:cNvPr>
          <p:cNvSpPr txBox="1"/>
          <p:nvPr/>
        </p:nvSpPr>
        <p:spPr>
          <a:xfrm>
            <a:off x="545432" y="1089164"/>
            <a:ext cx="11101136" cy="5909310"/>
          </a:xfrm>
          <a:prstGeom prst="rect">
            <a:avLst/>
          </a:prstGeom>
          <a:noFill/>
        </p:spPr>
        <p:txBody>
          <a:bodyPr wrap="square" rtlCol="0">
            <a:spAutoFit/>
          </a:bodyPr>
          <a:lstStyle/>
          <a:p>
            <a:pPr marL="285750" lvl="0" indent="-285750">
              <a:buFont typeface="Arial" panose="020B0604020202020204" pitchFamily="34" charset="0"/>
              <a:buChar char="•"/>
            </a:pPr>
            <a:r>
              <a:rPr lang="en-IN" dirty="0"/>
              <a:t>The </a:t>
            </a:r>
            <a:r>
              <a:rPr lang="en-IN" b="1" dirty="0"/>
              <a:t>React frontend</a:t>
            </a:r>
            <a:r>
              <a:rPr lang="en-IN" dirty="0"/>
              <a:t> sends user requests to the </a:t>
            </a:r>
            <a:r>
              <a:rPr lang="en-IN" b="1" dirty="0"/>
              <a:t>API Gateway</a:t>
            </a:r>
            <a:r>
              <a:rPr lang="en-IN" dirty="0"/>
              <a:t>. </a:t>
            </a:r>
          </a:p>
          <a:p>
            <a:pPr marL="285750" lvl="0" indent="-285750">
              <a:buFont typeface="Arial" panose="020B0604020202020204" pitchFamily="34" charset="0"/>
              <a:buChar char="•"/>
            </a:pPr>
            <a:r>
              <a:rPr lang="en-IN" dirty="0"/>
              <a:t>The </a:t>
            </a:r>
            <a:r>
              <a:rPr lang="en-IN" b="1" dirty="0"/>
              <a:t>API Gateway</a:t>
            </a:r>
            <a:r>
              <a:rPr lang="en-IN" dirty="0"/>
              <a:t> routes requests to the required microservice. </a:t>
            </a:r>
          </a:p>
          <a:p>
            <a:pPr marL="285750" lvl="0" indent="-285750">
              <a:buFont typeface="Arial" panose="020B0604020202020204" pitchFamily="34" charset="0"/>
              <a:buChar char="•"/>
            </a:pPr>
            <a:r>
              <a:rPr lang="en-IN" b="1" dirty="0"/>
              <a:t>Paper Service</a:t>
            </a:r>
            <a:r>
              <a:rPr lang="en-IN" dirty="0"/>
              <a:t> manages research-paper search, metadata, bookmarks, and collections. </a:t>
            </a:r>
          </a:p>
          <a:p>
            <a:pPr marL="285750" lvl="0" indent="-285750">
              <a:buFont typeface="Arial" panose="020B0604020202020204" pitchFamily="34" charset="0"/>
              <a:buChar char="•"/>
            </a:pPr>
            <a:r>
              <a:rPr lang="en-IN" b="1" dirty="0"/>
              <a:t>PDF Processing Service</a:t>
            </a:r>
            <a:r>
              <a:rPr lang="en-IN" dirty="0"/>
              <a:t> receives uploaded PDFs, stores them in </a:t>
            </a:r>
            <a:r>
              <a:rPr lang="en-IN" b="1" dirty="0"/>
              <a:t>AWS S3</a:t>
            </a:r>
            <a:r>
              <a:rPr lang="en-IN" dirty="0"/>
              <a:t>, and extracts text using </a:t>
            </a:r>
            <a:r>
              <a:rPr lang="en-IN" b="1" dirty="0" err="1"/>
              <a:t>PyMuPDF</a:t>
            </a:r>
            <a:r>
              <a:rPr lang="en-IN" dirty="0"/>
              <a:t>. </a:t>
            </a:r>
          </a:p>
          <a:p>
            <a:pPr marL="285750" lvl="0" indent="-285750">
              <a:buFont typeface="Arial" panose="020B0604020202020204" pitchFamily="34" charset="0"/>
              <a:buChar char="•"/>
            </a:pPr>
            <a:r>
              <a:rPr lang="en-IN" dirty="0"/>
              <a:t>The extracted text is sent to the </a:t>
            </a:r>
            <a:r>
              <a:rPr lang="en-IN" b="1" dirty="0"/>
              <a:t>AI Analysis Service</a:t>
            </a:r>
            <a:r>
              <a:rPr lang="en-IN" dirty="0"/>
              <a:t> for summarization, keywords, methodology, findings, and research insights. </a:t>
            </a:r>
          </a:p>
          <a:p>
            <a:pPr marL="285750" lvl="0" indent="-285750">
              <a:buFont typeface="Arial" panose="020B0604020202020204" pitchFamily="34" charset="0"/>
              <a:buChar char="•"/>
            </a:pPr>
            <a:r>
              <a:rPr lang="en-IN" b="1" dirty="0"/>
              <a:t>Search &amp; Recommendation Service</a:t>
            </a:r>
            <a:r>
              <a:rPr lang="en-IN" dirty="0"/>
              <a:t> uses paper information to provide related research papers. </a:t>
            </a:r>
          </a:p>
          <a:p>
            <a:pPr marL="285750" lvl="0" indent="-285750">
              <a:buFont typeface="Arial" panose="020B0604020202020204" pitchFamily="34" charset="0"/>
              <a:buChar char="•"/>
            </a:pPr>
            <a:r>
              <a:rPr lang="en-IN" dirty="0"/>
              <a:t>Results and user data are stored in </a:t>
            </a:r>
            <a:r>
              <a:rPr lang="en-IN" b="1" dirty="0"/>
              <a:t>MongoDB Atlas</a:t>
            </a:r>
            <a:r>
              <a:rPr lang="en-IN" dirty="0"/>
              <a:t>. </a:t>
            </a:r>
          </a:p>
          <a:p>
            <a:pPr marL="285750" lvl="0" indent="-285750">
              <a:buFont typeface="Arial" panose="020B0604020202020204" pitchFamily="34" charset="0"/>
              <a:buChar char="•"/>
            </a:pPr>
            <a:r>
              <a:rPr lang="en-IN" dirty="0"/>
              <a:t>All services are </a:t>
            </a:r>
            <a:r>
              <a:rPr lang="en-IN" b="1" dirty="0"/>
              <a:t>Docker containers managed by Kubernetes</a:t>
            </a:r>
            <a:r>
              <a:rPr lang="en-IN" dirty="0"/>
              <a:t>, with </a:t>
            </a:r>
            <a:r>
              <a:rPr lang="en-IN" b="1" dirty="0"/>
              <a:t>AWS EKS</a:t>
            </a:r>
            <a:r>
              <a:rPr lang="en-IN" dirty="0"/>
              <a:t> providing the cloud environment.</a:t>
            </a:r>
          </a:p>
          <a:p>
            <a:pPr marL="285750" lvl="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Main Integration Flow</a:t>
            </a:r>
          </a:p>
          <a:p>
            <a:endParaRPr lang="en-IN" b="1" dirty="0"/>
          </a:p>
          <a:p>
            <a:r>
              <a:rPr lang="en-IN" b="1" dirty="0"/>
              <a:t>User → React → API Gateway → Microservices → AWS S3 / AI API / </a:t>
            </a:r>
            <a:r>
              <a:rPr lang="en-IN" b="1" dirty="0" err="1"/>
              <a:t>OpenAlex</a:t>
            </a:r>
            <a:r>
              <a:rPr lang="en-IN" b="1" dirty="0"/>
              <a:t> → MongoDB Atlas → React</a:t>
            </a:r>
            <a:endParaRPr lang="en-IN" dirty="0"/>
          </a:p>
          <a:p>
            <a:pPr lvl="0"/>
            <a:endParaRPr lang="en-IN" dirty="0"/>
          </a:p>
          <a:p>
            <a:pPr marL="285750" indent="-285750">
              <a:buFont typeface="Arial" panose="020B0604020202020204" pitchFamily="34" charset="0"/>
              <a:buChar char="•"/>
            </a:pPr>
            <a:r>
              <a:rPr lang="en-IN" b="1" dirty="0"/>
              <a:t>Overall Implementation Flow</a:t>
            </a:r>
          </a:p>
          <a:p>
            <a:endParaRPr lang="en-IN" b="1" dirty="0"/>
          </a:p>
          <a:p>
            <a:r>
              <a:rPr lang="en-IN" b="1" dirty="0"/>
              <a:t>Authentication → Research Discovery → Paper Management → PDF Processing → AI Analysis → Recommendation → Docker/Kubernetes → AWS Cloud</a:t>
            </a:r>
            <a:endParaRPr lang="en-IN" dirty="0"/>
          </a:p>
          <a:p>
            <a:pPr lvl="0"/>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492594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6F2B2-017B-3DA1-7B56-A56F890E4AE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2825182-9A3A-F964-2460-555609E820BF}"/>
              </a:ext>
            </a:extLst>
          </p:cNvPr>
          <p:cNvSpPr>
            <a:spLocks noGrp="1"/>
          </p:cNvSpPr>
          <p:nvPr>
            <p:ph type="dt" sz="half" idx="10"/>
          </p:nvPr>
        </p:nvSpPr>
        <p:spPr/>
        <p:txBody>
          <a:bodyPr/>
          <a:lstStyle/>
          <a:p>
            <a:fld id="{9D111484-8254-4818-B956-B01FC4C0B0D3}" type="datetime4">
              <a:rPr lang="en-US" smtClean="0"/>
              <a:t>September 22, 2026</a:t>
            </a:fld>
            <a:endParaRPr lang="en-US"/>
          </a:p>
        </p:txBody>
      </p:sp>
      <p:sp>
        <p:nvSpPr>
          <p:cNvPr id="3" name="Footer Placeholder 2">
            <a:extLst>
              <a:ext uri="{FF2B5EF4-FFF2-40B4-BE49-F238E27FC236}">
                <a16:creationId xmlns:a16="http://schemas.microsoft.com/office/drawing/2014/main" id="{AFC4A7D0-C6D9-65DA-3F0D-F7A10D2AA782}"/>
              </a:ext>
            </a:extLst>
          </p:cNvPr>
          <p:cNvSpPr>
            <a:spLocks noGrp="1"/>
          </p:cNvSpPr>
          <p:nvPr>
            <p:ph type="ftr" sz="quarter" idx="11"/>
          </p:nvPr>
        </p:nvSpPr>
        <p:spPr/>
        <p:txBody>
          <a:bodyPr/>
          <a:lstStyle/>
          <a:p>
            <a:r>
              <a:rPr lang="en-US"/>
              <a:t>CNAD Project Review-2</a:t>
            </a:r>
          </a:p>
        </p:txBody>
      </p:sp>
      <p:sp>
        <p:nvSpPr>
          <p:cNvPr id="4" name="Slide Number Placeholder 3">
            <a:extLst>
              <a:ext uri="{FF2B5EF4-FFF2-40B4-BE49-F238E27FC236}">
                <a16:creationId xmlns:a16="http://schemas.microsoft.com/office/drawing/2014/main" id="{1549DB7C-A244-0C1E-BB8D-6A63DEC469F0}"/>
              </a:ext>
            </a:extLst>
          </p:cNvPr>
          <p:cNvSpPr>
            <a:spLocks noGrp="1"/>
          </p:cNvSpPr>
          <p:nvPr>
            <p:ph type="sldNum" sz="quarter" idx="12"/>
          </p:nvPr>
        </p:nvSpPr>
        <p:spPr/>
        <p:txBody>
          <a:bodyPr/>
          <a:lstStyle/>
          <a:p>
            <a:fld id="{E639234F-78F1-4984-9C4D-D4C7AB587871}" type="slidenum">
              <a:rPr lang="en-US" smtClean="0"/>
              <a:t>13</a:t>
            </a:fld>
            <a:endParaRPr lang="en-US"/>
          </a:p>
        </p:txBody>
      </p:sp>
      <p:sp>
        <p:nvSpPr>
          <p:cNvPr id="8" name="Rectangle: Rounded Corners 7">
            <a:extLst>
              <a:ext uri="{FF2B5EF4-FFF2-40B4-BE49-F238E27FC236}">
                <a16:creationId xmlns:a16="http://schemas.microsoft.com/office/drawing/2014/main" id="{4133E251-ED8C-3E1A-E69A-CF4AA8931F6D}"/>
              </a:ext>
            </a:extLst>
          </p:cNvPr>
          <p:cNvSpPr/>
          <p:nvPr/>
        </p:nvSpPr>
        <p:spPr>
          <a:xfrm>
            <a:off x="664544" y="136525"/>
            <a:ext cx="10862911" cy="79391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Module Design / Module-wise Description and Implementation</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6D4B107E-64ED-174E-D874-6022E3B7E5D5}"/>
              </a:ext>
            </a:extLst>
          </p:cNvPr>
          <p:cNvGraphicFramePr>
            <a:graphicFrameLocks noGrp="1"/>
          </p:cNvGraphicFramePr>
          <p:nvPr>
            <p:extLst>
              <p:ext uri="{D42A27DB-BD31-4B8C-83A1-F6EECF244321}">
                <p14:modId xmlns:p14="http://schemas.microsoft.com/office/powerpoint/2010/main" val="3139998285"/>
              </p:ext>
            </p:extLst>
          </p:nvPr>
        </p:nvGraphicFramePr>
        <p:xfrm>
          <a:off x="541422" y="1141496"/>
          <a:ext cx="11109156" cy="5003800"/>
        </p:xfrm>
        <a:graphic>
          <a:graphicData uri="http://schemas.openxmlformats.org/drawingml/2006/table">
            <a:tbl>
              <a:tblPr firstRow="1" bandRow="1">
                <a:tableStyleId>{5C22544A-7EE6-4342-B048-85BDC9FD1C3A}</a:tableStyleId>
              </a:tblPr>
              <a:tblGrid>
                <a:gridCol w="3248526">
                  <a:extLst>
                    <a:ext uri="{9D8B030D-6E8A-4147-A177-3AD203B41FA5}">
                      <a16:colId xmlns:a16="http://schemas.microsoft.com/office/drawing/2014/main" val="3320630272"/>
                    </a:ext>
                  </a:extLst>
                </a:gridCol>
                <a:gridCol w="3930315">
                  <a:extLst>
                    <a:ext uri="{9D8B030D-6E8A-4147-A177-3AD203B41FA5}">
                      <a16:colId xmlns:a16="http://schemas.microsoft.com/office/drawing/2014/main" val="2352518868"/>
                    </a:ext>
                  </a:extLst>
                </a:gridCol>
                <a:gridCol w="3930315">
                  <a:extLst>
                    <a:ext uri="{9D8B030D-6E8A-4147-A177-3AD203B41FA5}">
                      <a16:colId xmlns:a16="http://schemas.microsoft.com/office/drawing/2014/main" val="2450783510"/>
                    </a:ext>
                  </a:extLst>
                </a:gridCol>
              </a:tblGrid>
              <a:tr h="370840">
                <a:tc>
                  <a:txBody>
                    <a:bodyPr/>
                    <a:lstStyle/>
                    <a:p>
                      <a:pPr>
                        <a:buNone/>
                      </a:pPr>
                      <a:r>
                        <a:rPr lang="en-IN" sz="1600" b="1"/>
                        <a:t>Module</a:t>
                      </a:r>
                      <a:endParaRPr lang="en-IN" sz="1600"/>
                    </a:p>
                  </a:txBody>
                  <a:tcPr anchor="ctr"/>
                </a:tc>
                <a:tc>
                  <a:txBody>
                    <a:bodyPr/>
                    <a:lstStyle/>
                    <a:p>
                      <a:pPr>
                        <a:buNone/>
                      </a:pPr>
                      <a:r>
                        <a:rPr lang="en-IN" sz="1600" b="1"/>
                        <a:t>Description</a:t>
                      </a:r>
                      <a:endParaRPr lang="en-IN" sz="1600"/>
                    </a:p>
                  </a:txBody>
                  <a:tcPr anchor="ctr"/>
                </a:tc>
                <a:tc>
                  <a:txBody>
                    <a:bodyPr/>
                    <a:lstStyle/>
                    <a:p>
                      <a:pPr>
                        <a:buNone/>
                      </a:pPr>
                      <a:r>
                        <a:rPr lang="en-IN" sz="1600" b="1" dirty="0"/>
                        <a:t>Implementation</a:t>
                      </a:r>
                      <a:endParaRPr lang="en-IN" sz="1600" dirty="0"/>
                    </a:p>
                  </a:txBody>
                  <a:tcPr anchor="ctr"/>
                </a:tc>
                <a:extLst>
                  <a:ext uri="{0D108BD9-81ED-4DB2-BD59-A6C34878D82A}">
                    <a16:rowId xmlns:a16="http://schemas.microsoft.com/office/drawing/2014/main" val="2366930891"/>
                  </a:ext>
                </a:extLst>
              </a:tr>
              <a:tr h="370840">
                <a:tc>
                  <a:txBody>
                    <a:bodyPr/>
                    <a:lstStyle/>
                    <a:p>
                      <a:pPr>
                        <a:buNone/>
                      </a:pPr>
                      <a:r>
                        <a:rPr lang="en-IN" sz="1600" b="1"/>
                        <a:t>1. Authentication</a:t>
                      </a:r>
                      <a:endParaRPr lang="en-IN" sz="1600"/>
                    </a:p>
                  </a:txBody>
                  <a:tcPr anchor="ctr"/>
                </a:tc>
                <a:tc>
                  <a:txBody>
                    <a:bodyPr/>
                    <a:lstStyle/>
                    <a:p>
                      <a:pPr>
                        <a:buNone/>
                      </a:pPr>
                      <a:r>
                        <a:rPr lang="en-IN" sz="1600"/>
                        <a:t>User registration, login and secure access.</a:t>
                      </a:r>
                    </a:p>
                  </a:txBody>
                  <a:tcPr anchor="ctr"/>
                </a:tc>
                <a:tc>
                  <a:txBody>
                    <a:bodyPr/>
                    <a:lstStyle/>
                    <a:p>
                      <a:pPr>
                        <a:buNone/>
                      </a:pPr>
                      <a:r>
                        <a:rPr lang="en-IN" sz="1600" b="1"/>
                        <a:t>Node.js, Express.js, JWT, bcrypt, MongoDB</a:t>
                      </a:r>
                      <a:endParaRPr lang="en-IN" sz="1600"/>
                    </a:p>
                  </a:txBody>
                  <a:tcPr anchor="ctr"/>
                </a:tc>
                <a:extLst>
                  <a:ext uri="{0D108BD9-81ED-4DB2-BD59-A6C34878D82A}">
                    <a16:rowId xmlns:a16="http://schemas.microsoft.com/office/drawing/2014/main" val="2690997838"/>
                  </a:ext>
                </a:extLst>
              </a:tr>
              <a:tr h="370840">
                <a:tc>
                  <a:txBody>
                    <a:bodyPr/>
                    <a:lstStyle/>
                    <a:p>
                      <a:pPr>
                        <a:buNone/>
                      </a:pPr>
                      <a:r>
                        <a:rPr lang="en-IN" sz="1600" b="1"/>
                        <a:t>2. Research Discovery</a:t>
                      </a:r>
                      <a:endParaRPr lang="en-IN" sz="1600"/>
                    </a:p>
                  </a:txBody>
                  <a:tcPr anchor="ctr"/>
                </a:tc>
                <a:tc>
                  <a:txBody>
                    <a:bodyPr/>
                    <a:lstStyle/>
                    <a:p>
                      <a:pPr>
                        <a:buNone/>
                      </a:pPr>
                      <a:r>
                        <a:rPr lang="en-IN" sz="1600"/>
                        <a:t>Search and discover relevant research papers.</a:t>
                      </a:r>
                    </a:p>
                  </a:txBody>
                  <a:tcPr anchor="ctr"/>
                </a:tc>
                <a:tc>
                  <a:txBody>
                    <a:bodyPr/>
                    <a:lstStyle/>
                    <a:p>
                      <a:pPr>
                        <a:buNone/>
                      </a:pPr>
                      <a:r>
                        <a:rPr lang="en-IN" sz="1600" b="1"/>
                        <a:t>OpenAlex API, Node.js, MongoDB</a:t>
                      </a:r>
                      <a:endParaRPr lang="en-IN" sz="1600"/>
                    </a:p>
                  </a:txBody>
                  <a:tcPr anchor="ctr"/>
                </a:tc>
                <a:extLst>
                  <a:ext uri="{0D108BD9-81ED-4DB2-BD59-A6C34878D82A}">
                    <a16:rowId xmlns:a16="http://schemas.microsoft.com/office/drawing/2014/main" val="707975002"/>
                  </a:ext>
                </a:extLst>
              </a:tr>
              <a:tr h="370840">
                <a:tc>
                  <a:txBody>
                    <a:bodyPr/>
                    <a:lstStyle/>
                    <a:p>
                      <a:pPr>
                        <a:buNone/>
                      </a:pPr>
                      <a:r>
                        <a:rPr lang="en-IN" sz="1600" b="1"/>
                        <a:t>3. Paper Management</a:t>
                      </a:r>
                      <a:endParaRPr lang="en-IN" sz="1600"/>
                    </a:p>
                  </a:txBody>
                  <a:tcPr anchor="ctr"/>
                </a:tc>
                <a:tc>
                  <a:txBody>
                    <a:bodyPr/>
                    <a:lstStyle/>
                    <a:p>
                      <a:pPr>
                        <a:buNone/>
                      </a:pPr>
                      <a:r>
                        <a:rPr lang="en-IN" sz="1600"/>
                        <a:t>Manage paper details, bookmarks and collections.</a:t>
                      </a:r>
                    </a:p>
                  </a:txBody>
                  <a:tcPr anchor="ctr"/>
                </a:tc>
                <a:tc>
                  <a:txBody>
                    <a:bodyPr/>
                    <a:lstStyle/>
                    <a:p>
                      <a:pPr>
                        <a:buNone/>
                      </a:pPr>
                      <a:r>
                        <a:rPr lang="en-IN" sz="1600" b="1"/>
                        <a:t>Express.js + MongoDB</a:t>
                      </a:r>
                      <a:endParaRPr lang="en-IN" sz="1600"/>
                    </a:p>
                  </a:txBody>
                  <a:tcPr anchor="ctr"/>
                </a:tc>
                <a:extLst>
                  <a:ext uri="{0D108BD9-81ED-4DB2-BD59-A6C34878D82A}">
                    <a16:rowId xmlns:a16="http://schemas.microsoft.com/office/drawing/2014/main" val="3924240682"/>
                  </a:ext>
                </a:extLst>
              </a:tr>
              <a:tr h="370840">
                <a:tc>
                  <a:txBody>
                    <a:bodyPr/>
                    <a:lstStyle/>
                    <a:p>
                      <a:pPr>
                        <a:buNone/>
                      </a:pPr>
                      <a:r>
                        <a:rPr lang="en-IN" sz="1600" b="1"/>
                        <a:t>4. PDF Processing</a:t>
                      </a:r>
                      <a:endParaRPr lang="en-IN" sz="1600"/>
                    </a:p>
                  </a:txBody>
                  <a:tcPr anchor="ctr"/>
                </a:tc>
                <a:tc>
                  <a:txBody>
                    <a:bodyPr/>
                    <a:lstStyle/>
                    <a:p>
                      <a:pPr>
                        <a:buNone/>
                      </a:pPr>
                      <a:r>
                        <a:rPr lang="en-IN" sz="1600"/>
                        <a:t>Upload PDFs, store them in cloud and extract text.</a:t>
                      </a:r>
                    </a:p>
                  </a:txBody>
                  <a:tcPr anchor="ctr"/>
                </a:tc>
                <a:tc>
                  <a:txBody>
                    <a:bodyPr/>
                    <a:lstStyle/>
                    <a:p>
                      <a:pPr>
                        <a:buNone/>
                      </a:pPr>
                      <a:r>
                        <a:rPr lang="en-IN" sz="1600" b="1"/>
                        <a:t>AWS S3, FastAPI, PyMuPDF</a:t>
                      </a:r>
                      <a:endParaRPr lang="en-IN" sz="1600"/>
                    </a:p>
                  </a:txBody>
                  <a:tcPr anchor="ctr"/>
                </a:tc>
                <a:extLst>
                  <a:ext uri="{0D108BD9-81ED-4DB2-BD59-A6C34878D82A}">
                    <a16:rowId xmlns:a16="http://schemas.microsoft.com/office/drawing/2014/main" val="2368072377"/>
                  </a:ext>
                </a:extLst>
              </a:tr>
              <a:tr h="370840">
                <a:tc>
                  <a:txBody>
                    <a:bodyPr/>
                    <a:lstStyle/>
                    <a:p>
                      <a:pPr>
                        <a:buNone/>
                      </a:pPr>
                      <a:r>
                        <a:rPr lang="en-IN" sz="1600" b="1" dirty="0"/>
                        <a:t>5. AI Research Analysis</a:t>
                      </a:r>
                      <a:endParaRPr lang="en-IN" sz="1600" dirty="0"/>
                    </a:p>
                  </a:txBody>
                  <a:tcPr anchor="ctr"/>
                </a:tc>
                <a:tc>
                  <a:txBody>
                    <a:bodyPr/>
                    <a:lstStyle/>
                    <a:p>
                      <a:pPr>
                        <a:buNone/>
                      </a:pPr>
                      <a:r>
                        <a:rPr lang="en-IN" sz="1600"/>
                        <a:t>Generate summaries, keywords, concepts, methodology, findings and limitations.</a:t>
                      </a:r>
                    </a:p>
                  </a:txBody>
                  <a:tcPr anchor="ctr"/>
                </a:tc>
                <a:tc>
                  <a:txBody>
                    <a:bodyPr/>
                    <a:lstStyle/>
                    <a:p>
                      <a:pPr>
                        <a:buNone/>
                      </a:pPr>
                      <a:r>
                        <a:rPr lang="en-IN" sz="1600" b="1" dirty="0"/>
                        <a:t>Python, </a:t>
                      </a:r>
                      <a:r>
                        <a:rPr lang="en-IN" sz="1600" b="1" dirty="0" err="1"/>
                        <a:t>FastAPI</a:t>
                      </a:r>
                      <a:r>
                        <a:rPr lang="en-IN" sz="1600" b="1" dirty="0"/>
                        <a:t>, AI API</a:t>
                      </a:r>
                      <a:endParaRPr lang="en-IN" sz="1600" dirty="0"/>
                    </a:p>
                  </a:txBody>
                  <a:tcPr anchor="ctr"/>
                </a:tc>
                <a:extLst>
                  <a:ext uri="{0D108BD9-81ED-4DB2-BD59-A6C34878D82A}">
                    <a16:rowId xmlns:a16="http://schemas.microsoft.com/office/drawing/2014/main" val="3673437568"/>
                  </a:ext>
                </a:extLst>
              </a:tr>
              <a:tr h="370840">
                <a:tc>
                  <a:txBody>
                    <a:bodyPr/>
                    <a:lstStyle/>
                    <a:p>
                      <a:pPr>
                        <a:buNone/>
                      </a:pPr>
                      <a:r>
                        <a:rPr lang="en-IN" sz="1600" b="1"/>
                        <a:t>6. Recommendation &amp; Comparison</a:t>
                      </a:r>
                      <a:endParaRPr lang="en-IN" sz="1600"/>
                    </a:p>
                  </a:txBody>
                  <a:tcPr anchor="ctr"/>
                </a:tc>
                <a:tc>
                  <a:txBody>
                    <a:bodyPr/>
                    <a:lstStyle/>
                    <a:p>
                      <a:pPr>
                        <a:buNone/>
                      </a:pPr>
                      <a:r>
                        <a:rPr lang="en-IN" sz="1600"/>
                        <a:t>Recommend related papers and compare selected papers.</a:t>
                      </a:r>
                    </a:p>
                  </a:txBody>
                  <a:tcPr anchor="ctr"/>
                </a:tc>
                <a:tc>
                  <a:txBody>
                    <a:bodyPr/>
                    <a:lstStyle/>
                    <a:p>
                      <a:pPr>
                        <a:buNone/>
                      </a:pPr>
                      <a:r>
                        <a:rPr lang="en-IN" sz="1600" b="1"/>
                        <a:t>Search/Recommendation Service + MongoDB</a:t>
                      </a:r>
                      <a:endParaRPr lang="en-IN" sz="1600"/>
                    </a:p>
                  </a:txBody>
                  <a:tcPr anchor="ctr"/>
                </a:tc>
                <a:extLst>
                  <a:ext uri="{0D108BD9-81ED-4DB2-BD59-A6C34878D82A}">
                    <a16:rowId xmlns:a16="http://schemas.microsoft.com/office/drawing/2014/main" val="2731232400"/>
                  </a:ext>
                </a:extLst>
              </a:tr>
              <a:tr h="370840">
                <a:tc>
                  <a:txBody>
                    <a:bodyPr/>
                    <a:lstStyle/>
                    <a:p>
                      <a:pPr>
                        <a:buNone/>
                      </a:pPr>
                      <a:r>
                        <a:rPr lang="en-IN" sz="1600" b="1"/>
                        <a:t>7. Cloud-Native Deployment</a:t>
                      </a:r>
                      <a:endParaRPr lang="en-IN" sz="1600"/>
                    </a:p>
                  </a:txBody>
                  <a:tcPr anchor="ctr"/>
                </a:tc>
                <a:tc>
                  <a:txBody>
                    <a:bodyPr/>
                    <a:lstStyle/>
                    <a:p>
                      <a:pPr>
                        <a:buNone/>
                      </a:pPr>
                      <a:r>
                        <a:rPr lang="en-IN" sz="1600"/>
                        <a:t>Containerize and manage application services.</a:t>
                      </a:r>
                    </a:p>
                  </a:txBody>
                  <a:tcPr anchor="ctr"/>
                </a:tc>
                <a:tc>
                  <a:txBody>
                    <a:bodyPr/>
                    <a:lstStyle/>
                    <a:p>
                      <a:pPr>
                        <a:buNone/>
                      </a:pPr>
                      <a:r>
                        <a:rPr lang="en-IN" sz="1600" b="1"/>
                        <a:t>Docker, Kubernetes, AWS EKS, AWS ECR</a:t>
                      </a:r>
                      <a:endParaRPr lang="en-IN" sz="1600"/>
                    </a:p>
                  </a:txBody>
                  <a:tcPr anchor="ctr"/>
                </a:tc>
                <a:extLst>
                  <a:ext uri="{0D108BD9-81ED-4DB2-BD59-A6C34878D82A}">
                    <a16:rowId xmlns:a16="http://schemas.microsoft.com/office/drawing/2014/main" val="3020139041"/>
                  </a:ext>
                </a:extLst>
              </a:tr>
              <a:tr h="370840">
                <a:tc>
                  <a:txBody>
                    <a:bodyPr/>
                    <a:lstStyle/>
                    <a:p>
                      <a:pPr>
                        <a:buNone/>
                      </a:pPr>
                      <a:r>
                        <a:rPr lang="en-IN" sz="1600" b="1"/>
                        <a:t>8. CI/CD &amp; Monitoring</a:t>
                      </a:r>
                      <a:endParaRPr lang="en-IN" sz="1600"/>
                    </a:p>
                  </a:txBody>
                  <a:tcPr anchor="ctr"/>
                </a:tc>
                <a:tc>
                  <a:txBody>
                    <a:bodyPr/>
                    <a:lstStyle/>
                    <a:p>
                      <a:pPr>
                        <a:buNone/>
                      </a:pPr>
                      <a:r>
                        <a:rPr lang="en-IN" sz="1600"/>
                        <a:t>Automate deployment and monitor application performance.</a:t>
                      </a:r>
                    </a:p>
                  </a:txBody>
                  <a:tcPr anchor="ctr"/>
                </a:tc>
                <a:tc>
                  <a:txBody>
                    <a:bodyPr/>
                    <a:lstStyle/>
                    <a:p>
                      <a:pPr>
                        <a:buNone/>
                      </a:pPr>
                      <a:r>
                        <a:rPr lang="en-IN" sz="1600" b="1" dirty="0"/>
                        <a:t>GitHub Actions + AWS CloudWatch</a:t>
                      </a:r>
                      <a:endParaRPr lang="en-IN" sz="1600" dirty="0"/>
                    </a:p>
                  </a:txBody>
                  <a:tcPr anchor="ctr"/>
                </a:tc>
                <a:extLst>
                  <a:ext uri="{0D108BD9-81ED-4DB2-BD59-A6C34878D82A}">
                    <a16:rowId xmlns:a16="http://schemas.microsoft.com/office/drawing/2014/main" val="213814749"/>
                  </a:ext>
                </a:extLst>
              </a:tr>
            </a:tbl>
          </a:graphicData>
        </a:graphic>
      </p:graphicFrame>
    </p:spTree>
    <p:extLst>
      <p:ext uri="{BB962C8B-B14F-4D97-AF65-F5344CB8AC3E}">
        <p14:creationId xmlns:p14="http://schemas.microsoft.com/office/powerpoint/2010/main" val="3567294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0303AA-CEE8-2513-1736-59CB3A5EF8E4}"/>
              </a:ext>
            </a:extLst>
          </p:cNvPr>
          <p:cNvSpPr txBox="1"/>
          <p:nvPr/>
        </p:nvSpPr>
        <p:spPr>
          <a:xfrm>
            <a:off x="1042736" y="1449804"/>
            <a:ext cx="9639781" cy="3416320"/>
          </a:xfrm>
          <a:prstGeom prst="rect">
            <a:avLst/>
          </a:prstGeom>
          <a:noFill/>
        </p:spPr>
        <p:txBody>
          <a:bodyPr wrap="square" rtlCol="0">
            <a:spAutoFit/>
          </a:bodyPr>
          <a:lstStyle/>
          <a:p>
            <a:pPr marL="285750" lvl="0" indent="-285750">
              <a:buFont typeface="Arial" panose="020B0604020202020204" pitchFamily="34" charset="0"/>
              <a:buChar char="•"/>
            </a:pPr>
            <a:r>
              <a:rPr lang="en-IN" dirty="0"/>
              <a:t>The project can be developed using </a:t>
            </a:r>
            <a:r>
              <a:rPr lang="en-IN" b="1" dirty="0"/>
              <a:t>React, Node.js, Express.js, Python/</a:t>
            </a:r>
            <a:r>
              <a:rPr lang="en-IN" b="1" dirty="0" err="1"/>
              <a:t>FastAPI</a:t>
            </a:r>
            <a:r>
              <a:rPr lang="en-IN" b="1" dirty="0"/>
              <a:t>, MongoDB, and AI APIs</a:t>
            </a:r>
            <a:r>
              <a:rPr lang="en-IN" dirty="0"/>
              <a:t>. </a:t>
            </a:r>
          </a:p>
          <a:p>
            <a:pPr marL="285750" lvl="0" indent="-285750">
              <a:buFont typeface="Arial" panose="020B0604020202020204" pitchFamily="34" charset="0"/>
              <a:buChar char="•"/>
            </a:pPr>
            <a:r>
              <a:rPr lang="en-IN" b="1" dirty="0"/>
              <a:t>Docker and Kubernetes</a:t>
            </a:r>
            <a:r>
              <a:rPr lang="en-IN" dirty="0"/>
              <a:t> enable containerized and modular deployment. </a:t>
            </a:r>
          </a:p>
          <a:p>
            <a:pPr marL="285750" lvl="0" indent="-285750">
              <a:buFont typeface="Arial" panose="020B0604020202020204" pitchFamily="34" charset="0"/>
              <a:buChar char="•"/>
            </a:pPr>
            <a:r>
              <a:rPr lang="en-IN" b="1" dirty="0"/>
              <a:t>AWS EKS and S3</a:t>
            </a:r>
            <a:r>
              <a:rPr lang="en-IN" dirty="0"/>
              <a:t> provide suitable cloud infrastructure for deployment, scaling, and storage. </a:t>
            </a:r>
          </a:p>
          <a:p>
            <a:pPr marL="285750" lvl="0" indent="-285750">
              <a:buFont typeface="Arial" panose="020B0604020202020204" pitchFamily="34" charset="0"/>
              <a:buChar char="•"/>
            </a:pPr>
            <a:r>
              <a:rPr lang="en-IN" dirty="0"/>
              <a:t>The platform provides a </a:t>
            </a:r>
            <a:r>
              <a:rPr lang="en-IN" b="1" dirty="0"/>
              <a:t>practical and centralized solution</a:t>
            </a:r>
            <a:r>
              <a:rPr lang="en-IN" dirty="0"/>
              <a:t> for research discovery, AI analysis, and paper management. </a:t>
            </a:r>
          </a:p>
          <a:p>
            <a:pPr marL="285750" lvl="0" indent="-285750">
              <a:buFont typeface="Arial" panose="020B0604020202020204" pitchFamily="34" charset="0"/>
              <a:buChar char="•"/>
            </a:pPr>
            <a:r>
              <a:rPr lang="en-IN" dirty="0"/>
              <a:t>The use of </a:t>
            </a:r>
            <a:r>
              <a:rPr lang="en-IN" b="1" dirty="0"/>
              <a:t>open-source technologies and cloud resources</a:t>
            </a:r>
            <a:r>
              <a:rPr lang="en-IN" dirty="0"/>
              <a:t> helps reduce development and infrastructure costs. </a:t>
            </a:r>
          </a:p>
          <a:p>
            <a:pPr marL="285750" lvl="0" indent="-285750">
              <a:buFont typeface="Arial" panose="020B0604020202020204" pitchFamily="34" charset="0"/>
              <a:buChar char="•"/>
            </a:pPr>
            <a:r>
              <a:rPr lang="en-IN" dirty="0"/>
              <a:t>The project can be developed </a:t>
            </a:r>
            <a:r>
              <a:rPr lang="en-IN" b="1" dirty="0"/>
              <a:t>incrementally and tested module by module</a:t>
            </a:r>
            <a:r>
              <a:rPr lang="en-IN" dirty="0"/>
              <a:t>, making implementation manageable. </a:t>
            </a:r>
          </a:p>
          <a:p>
            <a:pPr marL="285750" lvl="0" indent="-285750">
              <a:buFont typeface="Arial" panose="020B0604020202020204" pitchFamily="34" charset="0"/>
              <a:buChar char="•"/>
            </a:pPr>
            <a:r>
              <a:rPr lang="en-IN" b="1" dirty="0"/>
              <a:t>GitHub Actions, Kubernetes, and AWS</a:t>
            </a:r>
            <a:r>
              <a:rPr lang="en-IN" dirty="0"/>
              <a:t> support automated deployment, maintenance, and scalability. </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19AFF3A1-5C1B-139E-D79A-72B88478015A}"/>
              </a:ext>
            </a:extLst>
          </p:cNvPr>
          <p:cNvSpPr>
            <a:spLocks noGrp="1"/>
          </p:cNvSpPr>
          <p:nvPr>
            <p:ph type="dt" sz="half" idx="10"/>
          </p:nvPr>
        </p:nvSpPr>
        <p:spPr/>
        <p:txBody>
          <a:bodyPr/>
          <a:lstStyle/>
          <a:p>
            <a:fld id="{2BBFB7E2-5E33-4254-B46C-E58B03AD8925}" type="datetime4">
              <a:rPr lang="en-US" smtClean="0"/>
              <a:t>September 22, 2026</a:t>
            </a:fld>
            <a:endParaRPr lang="en-US"/>
          </a:p>
        </p:txBody>
      </p:sp>
      <p:sp>
        <p:nvSpPr>
          <p:cNvPr id="6" name="Footer Placeholder 5">
            <a:extLst>
              <a:ext uri="{FF2B5EF4-FFF2-40B4-BE49-F238E27FC236}">
                <a16:creationId xmlns:a16="http://schemas.microsoft.com/office/drawing/2014/main" id="{1E7EC70D-1363-E80E-D957-B7196CB13ADE}"/>
              </a:ext>
            </a:extLst>
          </p:cNvPr>
          <p:cNvSpPr>
            <a:spLocks noGrp="1"/>
          </p:cNvSpPr>
          <p:nvPr>
            <p:ph type="ftr" sz="quarter" idx="11"/>
          </p:nvPr>
        </p:nvSpPr>
        <p:spPr/>
        <p:txBody>
          <a:bodyPr/>
          <a:lstStyle/>
          <a:p>
            <a:r>
              <a:rPr lang="en-US"/>
              <a:t>CNAD Project Review-2</a:t>
            </a:r>
          </a:p>
        </p:txBody>
      </p:sp>
      <p:sp>
        <p:nvSpPr>
          <p:cNvPr id="7" name="Slide Number Placeholder 6">
            <a:extLst>
              <a:ext uri="{FF2B5EF4-FFF2-40B4-BE49-F238E27FC236}">
                <a16:creationId xmlns:a16="http://schemas.microsoft.com/office/drawing/2014/main" id="{8251C404-5E3A-5943-D47B-EDA9706D2992}"/>
              </a:ext>
            </a:extLst>
          </p:cNvPr>
          <p:cNvSpPr>
            <a:spLocks noGrp="1"/>
          </p:cNvSpPr>
          <p:nvPr>
            <p:ph type="sldNum" sz="quarter" idx="12"/>
          </p:nvPr>
        </p:nvSpPr>
        <p:spPr/>
        <p:txBody>
          <a:bodyPr/>
          <a:lstStyle/>
          <a:p>
            <a:fld id="{E639234F-78F1-4984-9C4D-D4C7AB587871}" type="slidenum">
              <a:rPr lang="en-US" smtClean="0"/>
              <a:t>14</a:t>
            </a:fld>
            <a:endParaRPr lang="en-US"/>
          </a:p>
        </p:txBody>
      </p:sp>
      <p:sp>
        <p:nvSpPr>
          <p:cNvPr id="9" name="Rectangle: Rounded Corners 8">
            <a:extLst>
              <a:ext uri="{FF2B5EF4-FFF2-40B4-BE49-F238E27FC236}">
                <a16:creationId xmlns:a16="http://schemas.microsoft.com/office/drawing/2014/main" id="{8DA611A3-C40B-C4D0-FC5B-A6E3CFDFC96B}"/>
              </a:ext>
            </a:extLst>
          </p:cNvPr>
          <p:cNvSpPr/>
          <p:nvPr/>
        </p:nvSpPr>
        <p:spPr>
          <a:xfrm>
            <a:off x="2457651"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Feasibility </a:t>
            </a:r>
          </a:p>
        </p:txBody>
      </p:sp>
    </p:spTree>
    <p:extLst>
      <p:ext uri="{BB962C8B-B14F-4D97-AF65-F5344CB8AC3E}">
        <p14:creationId xmlns:p14="http://schemas.microsoft.com/office/powerpoint/2010/main" val="4118855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0AC33-E891-5ED7-55F2-57D62B8C39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CBC271F-B3F8-72E9-F9F9-E762BC341060}"/>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36B19C68-78AD-FDB4-997F-D8F8D1C6D6C5}"/>
              </a:ext>
            </a:extLst>
          </p:cNvPr>
          <p:cNvSpPr>
            <a:spLocks noGrp="1"/>
          </p:cNvSpPr>
          <p:nvPr>
            <p:ph type="dt" sz="half" idx="10"/>
          </p:nvPr>
        </p:nvSpPr>
        <p:spPr/>
        <p:txBody>
          <a:bodyPr/>
          <a:lstStyle/>
          <a:p>
            <a:fld id="{4F23BAB3-EC47-4B93-BDA0-7A42D622D1C6}" type="datetime4">
              <a:rPr lang="en-US" smtClean="0"/>
              <a:t>September 22, 2026</a:t>
            </a:fld>
            <a:endParaRPr lang="en-US"/>
          </a:p>
        </p:txBody>
      </p:sp>
      <p:sp>
        <p:nvSpPr>
          <p:cNvPr id="6" name="Footer Placeholder 5">
            <a:extLst>
              <a:ext uri="{FF2B5EF4-FFF2-40B4-BE49-F238E27FC236}">
                <a16:creationId xmlns:a16="http://schemas.microsoft.com/office/drawing/2014/main" id="{47BEDF61-DA79-9275-045D-33E0F89D66EA}"/>
              </a:ext>
            </a:extLst>
          </p:cNvPr>
          <p:cNvSpPr>
            <a:spLocks noGrp="1"/>
          </p:cNvSpPr>
          <p:nvPr>
            <p:ph type="ftr" sz="quarter" idx="11"/>
          </p:nvPr>
        </p:nvSpPr>
        <p:spPr/>
        <p:txBody>
          <a:bodyPr/>
          <a:lstStyle/>
          <a:p>
            <a:r>
              <a:rPr lang="en-US"/>
              <a:t>CNAD Project Review-2</a:t>
            </a:r>
          </a:p>
        </p:txBody>
      </p:sp>
      <p:sp>
        <p:nvSpPr>
          <p:cNvPr id="7" name="Slide Number Placeholder 6">
            <a:extLst>
              <a:ext uri="{FF2B5EF4-FFF2-40B4-BE49-F238E27FC236}">
                <a16:creationId xmlns:a16="http://schemas.microsoft.com/office/drawing/2014/main" id="{673D0AB2-4FBB-989B-65F6-29B626AA3E1C}"/>
              </a:ext>
            </a:extLst>
          </p:cNvPr>
          <p:cNvSpPr>
            <a:spLocks noGrp="1"/>
          </p:cNvSpPr>
          <p:nvPr>
            <p:ph type="sldNum" sz="quarter" idx="12"/>
          </p:nvPr>
        </p:nvSpPr>
        <p:spPr/>
        <p:txBody>
          <a:bodyPr/>
          <a:lstStyle/>
          <a:p>
            <a:fld id="{E639234F-78F1-4984-9C4D-D4C7AB587871}" type="slidenum">
              <a:rPr lang="en-US" smtClean="0"/>
              <a:t>15</a:t>
            </a:fld>
            <a:endParaRPr lang="en-US"/>
          </a:p>
        </p:txBody>
      </p:sp>
      <p:sp>
        <p:nvSpPr>
          <p:cNvPr id="9" name="Rectangle: Rounded Corners 8">
            <a:extLst>
              <a:ext uri="{FF2B5EF4-FFF2-40B4-BE49-F238E27FC236}">
                <a16:creationId xmlns:a16="http://schemas.microsoft.com/office/drawing/2014/main" id="{3F662F57-2609-3FDD-F2AB-DB411C241B2E}"/>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Project Plan</a:t>
            </a:r>
          </a:p>
        </p:txBody>
      </p:sp>
      <p:sp>
        <p:nvSpPr>
          <p:cNvPr id="2" name="TextBox 1">
            <a:extLst>
              <a:ext uri="{FF2B5EF4-FFF2-40B4-BE49-F238E27FC236}">
                <a16:creationId xmlns:a16="http://schemas.microsoft.com/office/drawing/2014/main" id="{4A9BB9CA-8E2C-F84A-E2CB-E99D4BE8CB83}"/>
              </a:ext>
            </a:extLst>
          </p:cNvPr>
          <p:cNvSpPr txBox="1"/>
          <p:nvPr/>
        </p:nvSpPr>
        <p:spPr>
          <a:xfrm>
            <a:off x="755984" y="1183600"/>
            <a:ext cx="10680032" cy="4801314"/>
          </a:xfrm>
          <a:prstGeom prst="rect">
            <a:avLst/>
          </a:prstGeom>
          <a:noFill/>
        </p:spPr>
        <p:txBody>
          <a:bodyPr wrap="square" rtlCol="0">
            <a:spAutoFit/>
          </a:bodyPr>
          <a:lstStyle/>
          <a:p>
            <a:r>
              <a:rPr lang="en-IN" b="1" dirty="0"/>
              <a:t>Phase 1 – System Design &amp; Architecture</a:t>
            </a:r>
            <a:br>
              <a:rPr lang="en-IN" dirty="0"/>
            </a:br>
            <a:r>
              <a:rPr lang="en-IN" dirty="0"/>
              <a:t>Finalize the </a:t>
            </a:r>
            <a:r>
              <a:rPr lang="en-IN" b="1" dirty="0"/>
              <a:t>cloud-native architecture, microservices, database design, API flow, and system workflow</a:t>
            </a:r>
            <a:r>
              <a:rPr lang="en-IN" dirty="0"/>
              <a:t>.</a:t>
            </a:r>
          </a:p>
          <a:p>
            <a:r>
              <a:rPr lang="en-IN" b="1" dirty="0"/>
              <a:t>Phase 2 – Application &amp; AI Development</a:t>
            </a:r>
            <a:br>
              <a:rPr lang="en-IN" dirty="0"/>
            </a:br>
            <a:r>
              <a:rPr lang="en-IN" dirty="0"/>
              <a:t>Develop </a:t>
            </a:r>
            <a:r>
              <a:rPr lang="en-IN" b="1" dirty="0"/>
              <a:t>research discovery, paper management, PDF processing, and AI-based research analysis</a:t>
            </a:r>
            <a:r>
              <a:rPr lang="en-IN" dirty="0"/>
              <a:t> modules.</a:t>
            </a:r>
          </a:p>
          <a:p>
            <a:r>
              <a:rPr lang="en-IN" b="1" dirty="0"/>
              <a:t>Phase 3 – Cloud Storage &amp; Service Integration</a:t>
            </a:r>
            <a:br>
              <a:rPr lang="en-IN" dirty="0"/>
            </a:br>
            <a:r>
              <a:rPr lang="en-IN" dirty="0"/>
              <a:t>Integrate </a:t>
            </a:r>
            <a:r>
              <a:rPr lang="en-IN" b="1" dirty="0"/>
              <a:t>MongoDB Atlas, AWS S3, research APIs, and AI services</a:t>
            </a:r>
            <a:r>
              <a:rPr lang="en-IN" dirty="0"/>
              <a:t> with the application.</a:t>
            </a:r>
          </a:p>
          <a:p>
            <a:r>
              <a:rPr lang="en-IN" b="1" dirty="0"/>
              <a:t>Phase 4 – Docker &amp; Kubernetes Implementation</a:t>
            </a:r>
            <a:br>
              <a:rPr lang="en-IN" dirty="0"/>
            </a:br>
            <a:r>
              <a:rPr lang="en-IN" dirty="0"/>
              <a:t>Containerize application services using </a:t>
            </a:r>
            <a:r>
              <a:rPr lang="en-IN" b="1" dirty="0"/>
              <a:t>Docker</a:t>
            </a:r>
            <a:r>
              <a:rPr lang="en-IN" dirty="0"/>
              <a:t> and configure </a:t>
            </a:r>
            <a:r>
              <a:rPr lang="en-IN" b="1" dirty="0"/>
              <a:t>Kubernetes deployments, services, health checks, and scaling</a:t>
            </a:r>
            <a:r>
              <a:rPr lang="en-IN" dirty="0"/>
              <a:t>.</a:t>
            </a:r>
          </a:p>
          <a:p>
            <a:r>
              <a:rPr lang="en-IN" b="1" dirty="0"/>
              <a:t>Phase 5 – AWS Cloud &amp; CI/CD</a:t>
            </a:r>
            <a:br>
              <a:rPr lang="en-IN" dirty="0"/>
            </a:br>
            <a:r>
              <a:rPr lang="en-IN" dirty="0"/>
              <a:t>Deploy container images using </a:t>
            </a:r>
            <a:r>
              <a:rPr lang="en-IN" b="1" dirty="0"/>
              <a:t>AWS ECR and AWS EKS</a:t>
            </a:r>
            <a:r>
              <a:rPr lang="en-IN" dirty="0"/>
              <a:t>, and implement </a:t>
            </a:r>
            <a:r>
              <a:rPr lang="en-IN" b="1" dirty="0"/>
              <a:t>GitHub Actions CI/CD</a:t>
            </a:r>
            <a:r>
              <a:rPr lang="en-IN" dirty="0"/>
              <a:t> for automated deployment.</a:t>
            </a:r>
          </a:p>
          <a:p>
            <a:r>
              <a:rPr lang="en-IN" b="1" dirty="0"/>
              <a:t>Phase 6 – Monitoring, Testing &amp; Evaluation</a:t>
            </a:r>
            <a:br>
              <a:rPr lang="en-IN" dirty="0"/>
            </a:br>
            <a:r>
              <a:rPr lang="en-IN" dirty="0"/>
              <a:t>Implement </a:t>
            </a:r>
            <a:r>
              <a:rPr lang="en-IN" b="1" dirty="0"/>
              <a:t>AWS CloudWatch monitoring</a:t>
            </a:r>
            <a:r>
              <a:rPr lang="en-IN" dirty="0"/>
              <a:t>, perform functional and integration testing, and evaluate </a:t>
            </a:r>
            <a:r>
              <a:rPr lang="en-IN" b="1" dirty="0"/>
              <a:t>scalability, reliability, and performance</a:t>
            </a:r>
            <a:r>
              <a:rPr lang="en-IN" dirty="0"/>
              <a:t>.</a:t>
            </a:r>
          </a:p>
        </p:txBody>
      </p:sp>
    </p:spTree>
    <p:extLst>
      <p:ext uri="{BB962C8B-B14F-4D97-AF65-F5344CB8AC3E}">
        <p14:creationId xmlns:p14="http://schemas.microsoft.com/office/powerpoint/2010/main" val="1167188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0857-3A88-9FAC-D593-807CBD187C8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57F7B94-CBA6-9F64-ED13-3D567056C7CC}"/>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CDB9DE2C-EF9F-3897-A650-085E6A0B08BE}"/>
              </a:ext>
            </a:extLst>
          </p:cNvPr>
          <p:cNvSpPr>
            <a:spLocks noGrp="1"/>
          </p:cNvSpPr>
          <p:nvPr>
            <p:ph type="dt" sz="half" idx="10"/>
          </p:nvPr>
        </p:nvSpPr>
        <p:spPr/>
        <p:txBody>
          <a:bodyPr/>
          <a:lstStyle/>
          <a:p>
            <a:fld id="{10A7DE6D-3737-4E06-81DB-4B9EFFDDF451}" type="datetime4">
              <a:rPr lang="en-US" smtClean="0"/>
              <a:t>September 22, 2026</a:t>
            </a:fld>
            <a:endParaRPr lang="en-US"/>
          </a:p>
        </p:txBody>
      </p:sp>
      <p:sp>
        <p:nvSpPr>
          <p:cNvPr id="6" name="Footer Placeholder 5">
            <a:extLst>
              <a:ext uri="{FF2B5EF4-FFF2-40B4-BE49-F238E27FC236}">
                <a16:creationId xmlns:a16="http://schemas.microsoft.com/office/drawing/2014/main" id="{E2BCB6AF-E122-5644-D1A5-AC731D287DE2}"/>
              </a:ext>
            </a:extLst>
          </p:cNvPr>
          <p:cNvSpPr>
            <a:spLocks noGrp="1"/>
          </p:cNvSpPr>
          <p:nvPr>
            <p:ph type="ftr" sz="quarter" idx="11"/>
          </p:nvPr>
        </p:nvSpPr>
        <p:spPr/>
        <p:txBody>
          <a:bodyPr/>
          <a:lstStyle/>
          <a:p>
            <a:r>
              <a:rPr lang="en-US" dirty="0"/>
              <a:t>CNAD Project Review-2</a:t>
            </a:r>
          </a:p>
        </p:txBody>
      </p:sp>
      <p:sp>
        <p:nvSpPr>
          <p:cNvPr id="7" name="Slide Number Placeholder 6">
            <a:extLst>
              <a:ext uri="{FF2B5EF4-FFF2-40B4-BE49-F238E27FC236}">
                <a16:creationId xmlns:a16="http://schemas.microsoft.com/office/drawing/2014/main" id="{8924FB8E-FC42-6BDD-F83B-3A7B171AFC21}"/>
              </a:ext>
            </a:extLst>
          </p:cNvPr>
          <p:cNvSpPr>
            <a:spLocks noGrp="1"/>
          </p:cNvSpPr>
          <p:nvPr>
            <p:ph type="sldNum" sz="quarter" idx="12"/>
          </p:nvPr>
        </p:nvSpPr>
        <p:spPr/>
        <p:txBody>
          <a:bodyPr/>
          <a:lstStyle/>
          <a:p>
            <a:fld id="{E639234F-78F1-4984-9C4D-D4C7AB587871}" type="slidenum">
              <a:rPr lang="en-US" smtClean="0"/>
              <a:t>16</a:t>
            </a:fld>
            <a:endParaRPr lang="en-US"/>
          </a:p>
        </p:txBody>
      </p:sp>
      <p:graphicFrame>
        <p:nvGraphicFramePr>
          <p:cNvPr id="8" name="Content Placeholder 10">
            <a:extLst>
              <a:ext uri="{FF2B5EF4-FFF2-40B4-BE49-F238E27FC236}">
                <a16:creationId xmlns:a16="http://schemas.microsoft.com/office/drawing/2014/main" id="{BF1B0A5B-360C-0BBE-51A7-19366AA39F2A}"/>
              </a:ext>
            </a:extLst>
          </p:cNvPr>
          <p:cNvGraphicFramePr>
            <a:graphicFrameLocks/>
          </p:cNvGraphicFramePr>
          <p:nvPr>
            <p:extLst>
              <p:ext uri="{D42A27DB-BD31-4B8C-83A1-F6EECF244321}">
                <p14:modId xmlns:p14="http://schemas.microsoft.com/office/powerpoint/2010/main" val="784991917"/>
              </p:ext>
            </p:extLst>
          </p:nvPr>
        </p:nvGraphicFramePr>
        <p:xfrm>
          <a:off x="710661" y="831418"/>
          <a:ext cx="10770677" cy="5345186"/>
        </p:xfrm>
        <a:graphic>
          <a:graphicData uri="http://schemas.openxmlformats.org/drawingml/2006/table">
            <a:tbl>
              <a:tblPr firstRow="1" bandRow="1">
                <a:tableStyleId>{5C22544A-7EE6-4342-B048-85BDC9FD1C3A}</a:tableStyleId>
              </a:tblPr>
              <a:tblGrid>
                <a:gridCol w="1113592">
                  <a:extLst>
                    <a:ext uri="{9D8B030D-6E8A-4147-A177-3AD203B41FA5}">
                      <a16:colId xmlns:a16="http://schemas.microsoft.com/office/drawing/2014/main" val="865632583"/>
                    </a:ext>
                  </a:extLst>
                </a:gridCol>
                <a:gridCol w="5024535">
                  <a:extLst>
                    <a:ext uri="{9D8B030D-6E8A-4147-A177-3AD203B41FA5}">
                      <a16:colId xmlns:a16="http://schemas.microsoft.com/office/drawing/2014/main" val="2856754256"/>
                    </a:ext>
                  </a:extLst>
                </a:gridCol>
                <a:gridCol w="4632550">
                  <a:extLst>
                    <a:ext uri="{9D8B030D-6E8A-4147-A177-3AD203B41FA5}">
                      <a16:colId xmlns:a16="http://schemas.microsoft.com/office/drawing/2014/main" val="3992791816"/>
                    </a:ext>
                  </a:extLst>
                </a:gridCol>
              </a:tblGrid>
              <a:tr h="426098">
                <a:tc>
                  <a:txBody>
                    <a:bodyPr/>
                    <a:lstStyle/>
                    <a:p>
                      <a:pPr>
                        <a:buNone/>
                      </a:pPr>
                      <a:r>
                        <a:rPr lang="en-IN" sz="1400" b="1"/>
                        <a:t>Phase</a:t>
                      </a:r>
                      <a:endParaRPr lang="en-IN" sz="1400"/>
                    </a:p>
                  </a:txBody>
                  <a:tcPr anchor="ctr"/>
                </a:tc>
                <a:tc>
                  <a:txBody>
                    <a:bodyPr/>
                    <a:lstStyle/>
                    <a:p>
                      <a:pPr>
                        <a:buNone/>
                      </a:pPr>
                      <a:r>
                        <a:rPr lang="en-IN" sz="1400" b="1"/>
                        <a:t>Activity</a:t>
                      </a:r>
                      <a:endParaRPr lang="en-IN" sz="1400"/>
                    </a:p>
                  </a:txBody>
                  <a:tcPr anchor="ctr"/>
                </a:tc>
                <a:tc>
                  <a:txBody>
                    <a:bodyPr/>
                    <a:lstStyle/>
                    <a:p>
                      <a:pPr>
                        <a:buNone/>
                      </a:pPr>
                      <a:r>
                        <a:rPr lang="en-IN" sz="1400" b="1"/>
                        <a:t>Current Status / Output</a:t>
                      </a:r>
                      <a:endParaRPr lang="en-IN" sz="1400"/>
                    </a:p>
                  </a:txBody>
                  <a:tcPr anchor="ctr"/>
                </a:tc>
                <a:extLst>
                  <a:ext uri="{0D108BD9-81ED-4DB2-BD59-A6C34878D82A}">
                    <a16:rowId xmlns:a16="http://schemas.microsoft.com/office/drawing/2014/main" val="1834510404"/>
                  </a:ext>
                </a:extLst>
              </a:tr>
              <a:tr h="735456">
                <a:tc>
                  <a:txBody>
                    <a:bodyPr/>
                    <a:lstStyle/>
                    <a:p>
                      <a:pPr>
                        <a:buNone/>
                      </a:pPr>
                      <a:r>
                        <a:rPr lang="en-IN" sz="1400" b="1"/>
                        <a:t>Phase 1</a:t>
                      </a:r>
                      <a:endParaRPr lang="en-IN" sz="1400"/>
                    </a:p>
                  </a:txBody>
                  <a:tcPr anchor="ctr"/>
                </a:tc>
                <a:tc>
                  <a:txBody>
                    <a:bodyPr/>
                    <a:lstStyle/>
                    <a:p>
                      <a:pPr>
                        <a:buNone/>
                      </a:pPr>
                      <a:r>
                        <a:rPr lang="en-IN" sz="1400" b="1"/>
                        <a:t>System Architecture &amp; Module Design</a:t>
                      </a:r>
                      <a:endParaRPr lang="en-IN" sz="1400"/>
                    </a:p>
                  </a:txBody>
                  <a:tcPr anchor="ctr"/>
                </a:tc>
                <a:tc>
                  <a:txBody>
                    <a:bodyPr/>
                    <a:lstStyle/>
                    <a:p>
                      <a:pPr>
                        <a:buNone/>
                      </a:pPr>
                      <a:r>
                        <a:rPr lang="en-IN" sz="1400" b="1"/>
                        <a:t>Completed</a:t>
                      </a:r>
                      <a:r>
                        <a:rPr lang="en-IN" sz="1400"/>
                        <a:t> – Cloud-native architecture, microservices structure, database and API workflow designed.</a:t>
                      </a:r>
                    </a:p>
                  </a:txBody>
                  <a:tcPr anchor="ctr"/>
                </a:tc>
                <a:extLst>
                  <a:ext uri="{0D108BD9-81ED-4DB2-BD59-A6C34878D82A}">
                    <a16:rowId xmlns:a16="http://schemas.microsoft.com/office/drawing/2014/main" val="3234812841"/>
                  </a:ext>
                </a:extLst>
              </a:tr>
              <a:tr h="420261">
                <a:tc>
                  <a:txBody>
                    <a:bodyPr/>
                    <a:lstStyle/>
                    <a:p>
                      <a:pPr>
                        <a:buNone/>
                      </a:pPr>
                      <a:r>
                        <a:rPr lang="en-IN" sz="1400" b="1"/>
                        <a:t>Phase 2</a:t>
                      </a:r>
                      <a:endParaRPr lang="en-IN" sz="1400"/>
                    </a:p>
                  </a:txBody>
                  <a:tcPr anchor="ctr"/>
                </a:tc>
                <a:tc>
                  <a:txBody>
                    <a:bodyPr/>
                    <a:lstStyle/>
                    <a:p>
                      <a:pPr>
                        <a:buNone/>
                      </a:pPr>
                      <a:r>
                        <a:rPr lang="en-IN" sz="1400" b="1"/>
                        <a:t>Application &amp; AI Development</a:t>
                      </a:r>
                      <a:endParaRPr lang="en-IN" sz="1400"/>
                    </a:p>
                  </a:txBody>
                  <a:tcPr anchor="ctr"/>
                </a:tc>
                <a:tc>
                  <a:txBody>
                    <a:bodyPr/>
                    <a:lstStyle/>
                    <a:p>
                      <a:pPr>
                        <a:buNone/>
                      </a:pPr>
                      <a:r>
                        <a:rPr lang="en-IN" sz="1400" b="1"/>
                        <a:t>Implemented</a:t>
                      </a:r>
                      <a:r>
                        <a:rPr lang="en-IN" sz="1400"/>
                        <a:t> – Research discovery, paper management, PDF processing and AI-based research analysis developed.</a:t>
                      </a:r>
                    </a:p>
                  </a:txBody>
                  <a:tcPr anchor="ctr"/>
                </a:tc>
                <a:extLst>
                  <a:ext uri="{0D108BD9-81ED-4DB2-BD59-A6C34878D82A}">
                    <a16:rowId xmlns:a16="http://schemas.microsoft.com/office/drawing/2014/main" val="2178198534"/>
                  </a:ext>
                </a:extLst>
              </a:tr>
              <a:tr h="735456">
                <a:tc>
                  <a:txBody>
                    <a:bodyPr/>
                    <a:lstStyle/>
                    <a:p>
                      <a:pPr>
                        <a:buNone/>
                      </a:pPr>
                      <a:r>
                        <a:rPr lang="en-IN" sz="1400" b="1"/>
                        <a:t>Phase 3</a:t>
                      </a:r>
                      <a:endParaRPr lang="en-IN" sz="1400"/>
                    </a:p>
                  </a:txBody>
                  <a:tcPr anchor="ctr"/>
                </a:tc>
                <a:tc>
                  <a:txBody>
                    <a:bodyPr/>
                    <a:lstStyle/>
                    <a:p>
                      <a:pPr>
                        <a:buNone/>
                      </a:pPr>
                      <a:r>
                        <a:rPr lang="en-IN" sz="1400" b="1"/>
                        <a:t>Cloud Integration &amp; Storage</a:t>
                      </a:r>
                      <a:endParaRPr lang="en-IN" sz="1400"/>
                    </a:p>
                  </a:txBody>
                  <a:tcPr anchor="ctr"/>
                </a:tc>
                <a:tc>
                  <a:txBody>
                    <a:bodyPr/>
                    <a:lstStyle/>
                    <a:p>
                      <a:pPr>
                        <a:buNone/>
                      </a:pPr>
                      <a:r>
                        <a:rPr lang="en-IN" sz="1400" b="1"/>
                        <a:t>Implemented / In Progress</a:t>
                      </a:r>
                      <a:r>
                        <a:rPr lang="en-IN" sz="1400"/>
                        <a:t> – MongoDB Atlas, </a:t>
                      </a:r>
                      <a:r>
                        <a:rPr lang="en-IN" sz="1400" b="1"/>
                        <a:t>AWS S3</a:t>
                      </a:r>
                      <a:r>
                        <a:rPr lang="en-IN" sz="1400"/>
                        <a:t>, research APIs and AI services integrated.</a:t>
                      </a:r>
                    </a:p>
                  </a:txBody>
                  <a:tcPr anchor="ctr"/>
                </a:tc>
                <a:extLst>
                  <a:ext uri="{0D108BD9-81ED-4DB2-BD59-A6C34878D82A}">
                    <a16:rowId xmlns:a16="http://schemas.microsoft.com/office/drawing/2014/main" val="2107565806"/>
                  </a:ext>
                </a:extLst>
              </a:tr>
              <a:tr h="426098">
                <a:tc>
                  <a:txBody>
                    <a:bodyPr/>
                    <a:lstStyle/>
                    <a:p>
                      <a:pPr>
                        <a:buNone/>
                      </a:pPr>
                      <a:r>
                        <a:rPr lang="en-IN" sz="1400" b="1"/>
                        <a:t>Phase 4</a:t>
                      </a:r>
                      <a:endParaRPr lang="en-IN" sz="1400"/>
                    </a:p>
                  </a:txBody>
                  <a:tcPr anchor="ctr"/>
                </a:tc>
                <a:tc>
                  <a:txBody>
                    <a:bodyPr/>
                    <a:lstStyle/>
                    <a:p>
                      <a:pPr>
                        <a:buNone/>
                      </a:pPr>
                      <a:r>
                        <a:rPr lang="en-IN" sz="1400" b="1"/>
                        <a:t>Docker &amp; Kubernetes Implementation</a:t>
                      </a:r>
                      <a:endParaRPr lang="en-IN" sz="1400"/>
                    </a:p>
                  </a:txBody>
                  <a:tcPr anchor="ctr"/>
                </a:tc>
                <a:tc>
                  <a:txBody>
                    <a:bodyPr/>
                    <a:lstStyle/>
                    <a:p>
                      <a:pPr>
                        <a:buNone/>
                      </a:pPr>
                      <a:r>
                        <a:rPr lang="en-IN" sz="1400" b="1"/>
                        <a:t>In Progress</a:t>
                      </a:r>
                      <a:r>
                        <a:rPr lang="en-IN" sz="1400"/>
                        <a:t> – Application services containerized using </a:t>
                      </a:r>
                      <a:r>
                        <a:rPr lang="en-IN" sz="1400" b="1"/>
                        <a:t>Docker</a:t>
                      </a:r>
                      <a:r>
                        <a:rPr lang="en-IN" sz="1400"/>
                        <a:t> and Kubernetes deployment configured.</a:t>
                      </a:r>
                    </a:p>
                  </a:txBody>
                  <a:tcPr anchor="ctr"/>
                </a:tc>
                <a:extLst>
                  <a:ext uri="{0D108BD9-81ED-4DB2-BD59-A6C34878D82A}">
                    <a16:rowId xmlns:a16="http://schemas.microsoft.com/office/drawing/2014/main" val="2814477876"/>
                  </a:ext>
                </a:extLst>
              </a:tr>
              <a:tr h="735456">
                <a:tc>
                  <a:txBody>
                    <a:bodyPr/>
                    <a:lstStyle/>
                    <a:p>
                      <a:pPr>
                        <a:buNone/>
                      </a:pPr>
                      <a:r>
                        <a:rPr lang="en-IN" sz="1400" b="1"/>
                        <a:t>Phase 5</a:t>
                      </a:r>
                      <a:endParaRPr lang="en-IN" sz="1400"/>
                    </a:p>
                  </a:txBody>
                  <a:tcPr anchor="ctr"/>
                </a:tc>
                <a:tc>
                  <a:txBody>
                    <a:bodyPr/>
                    <a:lstStyle/>
                    <a:p>
                      <a:pPr>
                        <a:buNone/>
                      </a:pPr>
                      <a:r>
                        <a:rPr lang="en-IN" sz="1400" b="1"/>
                        <a:t>AWS Cloud Deployment</a:t>
                      </a:r>
                      <a:endParaRPr lang="en-IN" sz="1400"/>
                    </a:p>
                  </a:txBody>
                  <a:tcPr anchor="ctr"/>
                </a:tc>
                <a:tc>
                  <a:txBody>
                    <a:bodyPr/>
                    <a:lstStyle/>
                    <a:p>
                      <a:pPr>
                        <a:buNone/>
                      </a:pPr>
                      <a:r>
                        <a:rPr lang="en-IN" sz="1400" b="1"/>
                        <a:t>In Progress</a:t>
                      </a:r>
                      <a:r>
                        <a:rPr lang="en-IN" sz="1400"/>
                        <a:t> – </a:t>
                      </a:r>
                      <a:r>
                        <a:rPr lang="en-IN" sz="1400" b="1"/>
                        <a:t>AWS ECR and AWS EKS</a:t>
                      </a:r>
                      <a:r>
                        <a:rPr lang="en-IN" sz="1400"/>
                        <a:t> configuration prepared for cloud deployment.</a:t>
                      </a:r>
                    </a:p>
                  </a:txBody>
                  <a:tcPr anchor="ctr"/>
                </a:tc>
                <a:extLst>
                  <a:ext uri="{0D108BD9-81ED-4DB2-BD59-A6C34878D82A}">
                    <a16:rowId xmlns:a16="http://schemas.microsoft.com/office/drawing/2014/main" val="2973361741"/>
                  </a:ext>
                </a:extLst>
              </a:tr>
              <a:tr h="426098">
                <a:tc>
                  <a:txBody>
                    <a:bodyPr/>
                    <a:lstStyle/>
                    <a:p>
                      <a:pPr>
                        <a:buNone/>
                      </a:pPr>
                      <a:r>
                        <a:rPr lang="en-IN" sz="1400" b="1"/>
                        <a:t>Phase 6</a:t>
                      </a:r>
                      <a:endParaRPr lang="en-IN" sz="1400"/>
                    </a:p>
                  </a:txBody>
                  <a:tcPr anchor="ctr"/>
                </a:tc>
                <a:tc>
                  <a:txBody>
                    <a:bodyPr/>
                    <a:lstStyle/>
                    <a:p>
                      <a:pPr>
                        <a:buNone/>
                      </a:pPr>
                      <a:r>
                        <a:rPr lang="en-IN" sz="1400" b="1"/>
                        <a:t>CI/CD &amp; Monitoring</a:t>
                      </a:r>
                      <a:endParaRPr lang="en-IN" sz="1400"/>
                    </a:p>
                  </a:txBody>
                  <a:tcPr anchor="ctr"/>
                </a:tc>
                <a:tc>
                  <a:txBody>
                    <a:bodyPr/>
                    <a:lstStyle/>
                    <a:p>
                      <a:pPr>
                        <a:buNone/>
                      </a:pPr>
                      <a:r>
                        <a:rPr lang="en-IN" sz="1400" b="1"/>
                        <a:t>In Progress</a:t>
                      </a:r>
                      <a:r>
                        <a:rPr lang="en-IN" sz="1400"/>
                        <a:t> – </a:t>
                      </a:r>
                      <a:r>
                        <a:rPr lang="en-IN" sz="1400" b="1"/>
                        <a:t>GitHub Actions and AWS CloudWatch</a:t>
                      </a:r>
                      <a:r>
                        <a:rPr lang="en-IN" sz="1400"/>
                        <a:t> integration being configured for automated deployment and monitoring.</a:t>
                      </a:r>
                    </a:p>
                  </a:txBody>
                  <a:tcPr anchor="ctr"/>
                </a:tc>
                <a:extLst>
                  <a:ext uri="{0D108BD9-81ED-4DB2-BD59-A6C34878D82A}">
                    <a16:rowId xmlns:a16="http://schemas.microsoft.com/office/drawing/2014/main" val="3486513394"/>
                  </a:ext>
                </a:extLst>
              </a:tr>
              <a:tr h="426098">
                <a:tc>
                  <a:txBody>
                    <a:bodyPr/>
                    <a:lstStyle/>
                    <a:p>
                      <a:pPr>
                        <a:buNone/>
                      </a:pPr>
                      <a:r>
                        <a:rPr lang="en-IN" sz="1400" b="1"/>
                        <a:t>Phase 7</a:t>
                      </a:r>
                      <a:endParaRPr lang="en-IN" sz="1400"/>
                    </a:p>
                  </a:txBody>
                  <a:tcPr anchor="ctr"/>
                </a:tc>
                <a:tc>
                  <a:txBody>
                    <a:bodyPr/>
                    <a:lstStyle/>
                    <a:p>
                      <a:pPr>
                        <a:buNone/>
                      </a:pPr>
                      <a:r>
                        <a:rPr lang="en-IN" sz="1400" b="1"/>
                        <a:t>Testing &amp; Final Demonstration</a:t>
                      </a:r>
                      <a:endParaRPr lang="en-IN" sz="1400"/>
                    </a:p>
                  </a:txBody>
                  <a:tcPr anchor="ctr"/>
                </a:tc>
                <a:tc>
                  <a:txBody>
                    <a:bodyPr/>
                    <a:lstStyle/>
                    <a:p>
                      <a:pPr>
                        <a:buNone/>
                      </a:pPr>
                      <a:r>
                        <a:rPr lang="en-IN" sz="1400" b="1" dirty="0"/>
                        <a:t>Planned</a:t>
                      </a:r>
                      <a:r>
                        <a:rPr lang="en-IN" sz="1400" dirty="0"/>
                        <a:t> – Perform functional, integration and cloud deployment testing and evaluate </a:t>
                      </a:r>
                      <a:r>
                        <a:rPr lang="en-IN" sz="1400" b="1" dirty="0"/>
                        <a:t>scalability and reliability</a:t>
                      </a:r>
                      <a:r>
                        <a:rPr lang="en-IN" sz="1400" dirty="0"/>
                        <a:t>.</a:t>
                      </a:r>
                    </a:p>
                  </a:txBody>
                  <a:tcPr anchor="ctr"/>
                </a:tc>
                <a:extLst>
                  <a:ext uri="{0D108BD9-81ED-4DB2-BD59-A6C34878D82A}">
                    <a16:rowId xmlns:a16="http://schemas.microsoft.com/office/drawing/2014/main" val="3483654068"/>
                  </a:ext>
                </a:extLst>
              </a:tr>
            </a:tbl>
          </a:graphicData>
        </a:graphic>
      </p:graphicFrame>
    </p:spTree>
    <p:extLst>
      <p:ext uri="{BB962C8B-B14F-4D97-AF65-F5344CB8AC3E}">
        <p14:creationId xmlns:p14="http://schemas.microsoft.com/office/powerpoint/2010/main" val="1891939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DF47B4-EE76-AD85-4E22-E56D8FC2919B}"/>
              </a:ext>
            </a:extLst>
          </p:cNvPr>
          <p:cNvSpPr>
            <a:spLocks noGrp="1"/>
          </p:cNvSpPr>
          <p:nvPr>
            <p:ph type="dt" sz="half" idx="10"/>
          </p:nvPr>
        </p:nvSpPr>
        <p:spPr/>
        <p:txBody>
          <a:bodyPr/>
          <a:lstStyle/>
          <a:p>
            <a:fld id="{3788BEA8-B4F4-4D5C-988D-6F13B2B624A1}" type="datetime4">
              <a:rPr lang="en-US" smtClean="0"/>
              <a:t>September 22, 2026</a:t>
            </a:fld>
            <a:endParaRPr lang="en-US"/>
          </a:p>
        </p:txBody>
      </p:sp>
      <p:sp>
        <p:nvSpPr>
          <p:cNvPr id="5" name="Footer Placeholder 4">
            <a:extLst>
              <a:ext uri="{FF2B5EF4-FFF2-40B4-BE49-F238E27FC236}">
                <a16:creationId xmlns:a16="http://schemas.microsoft.com/office/drawing/2014/main" id="{F7EEC212-460C-ADFC-91BC-0D9E661EFD57}"/>
              </a:ext>
            </a:extLst>
          </p:cNvPr>
          <p:cNvSpPr>
            <a:spLocks noGrp="1"/>
          </p:cNvSpPr>
          <p:nvPr>
            <p:ph type="ftr" sz="quarter" idx="11"/>
          </p:nvPr>
        </p:nvSpPr>
        <p:spPr/>
        <p:txBody>
          <a:bodyPr/>
          <a:lstStyle/>
          <a:p>
            <a:r>
              <a:rPr lang="en-US"/>
              <a:t>CNAD Project Review-2</a:t>
            </a:r>
          </a:p>
        </p:txBody>
      </p:sp>
      <p:sp>
        <p:nvSpPr>
          <p:cNvPr id="6" name="Slide Number Placeholder 5">
            <a:extLst>
              <a:ext uri="{FF2B5EF4-FFF2-40B4-BE49-F238E27FC236}">
                <a16:creationId xmlns:a16="http://schemas.microsoft.com/office/drawing/2014/main" id="{F8CAAD67-504A-8EF2-30D1-1D83BBAA7834}"/>
              </a:ext>
            </a:extLst>
          </p:cNvPr>
          <p:cNvSpPr>
            <a:spLocks noGrp="1"/>
          </p:cNvSpPr>
          <p:nvPr>
            <p:ph type="sldNum" sz="quarter" idx="12"/>
          </p:nvPr>
        </p:nvSpPr>
        <p:spPr/>
        <p:txBody>
          <a:bodyPr/>
          <a:lstStyle/>
          <a:p>
            <a:fld id="{E639234F-78F1-4984-9C4D-D4C7AB587871}" type="slidenum">
              <a:rPr lang="en-US" smtClean="0"/>
              <a:t>17</a:t>
            </a:fld>
            <a:endParaRPr lang="en-US"/>
          </a:p>
        </p:txBody>
      </p:sp>
      <p:pic>
        <p:nvPicPr>
          <p:cNvPr id="8" name="Picture 7">
            <a:extLst>
              <a:ext uri="{FF2B5EF4-FFF2-40B4-BE49-F238E27FC236}">
                <a16:creationId xmlns:a16="http://schemas.microsoft.com/office/drawing/2014/main" id="{49A88D75-00F8-9ECC-6ABF-E208B1BFC811}"/>
              </a:ext>
            </a:extLst>
          </p:cNvPr>
          <p:cNvPicPr>
            <a:picLocks noChangeAspect="1"/>
          </p:cNvPicPr>
          <p:nvPr/>
        </p:nvPicPr>
        <p:blipFill>
          <a:blip r:embed="rId2"/>
          <a:stretch>
            <a:fillRect/>
          </a:stretch>
        </p:blipFill>
        <p:spPr>
          <a:xfrm>
            <a:off x="1309325" y="992775"/>
            <a:ext cx="9049827" cy="5363575"/>
          </a:xfrm>
          <a:prstGeom prst="rect">
            <a:avLst/>
          </a:prstGeom>
        </p:spPr>
      </p:pic>
      <p:sp>
        <p:nvSpPr>
          <p:cNvPr id="12" name="Rectangle: Rounded Corners 11">
            <a:extLst>
              <a:ext uri="{FF2B5EF4-FFF2-40B4-BE49-F238E27FC236}">
                <a16:creationId xmlns:a16="http://schemas.microsoft.com/office/drawing/2014/main" id="{11553AD8-766C-5169-7D4F-0594ECB4389B}"/>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Project Architecture / Overview</a:t>
            </a:r>
          </a:p>
        </p:txBody>
      </p:sp>
    </p:spTree>
    <p:extLst>
      <p:ext uri="{BB962C8B-B14F-4D97-AF65-F5344CB8AC3E}">
        <p14:creationId xmlns:p14="http://schemas.microsoft.com/office/powerpoint/2010/main" val="2020351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2141</Words>
  <Application>Microsoft Office PowerPoint</Application>
  <PresentationFormat>Widescreen</PresentationFormat>
  <Paragraphs>279</Paragraphs>
  <Slides>17</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dc:creator>
  <cp:lastModifiedBy>Akshay Saladi</cp:lastModifiedBy>
  <cp:revision>39</cp:revision>
  <dcterms:created xsi:type="dcterms:W3CDTF">2026-08-08T06:33:56Z</dcterms:created>
  <dcterms:modified xsi:type="dcterms:W3CDTF">2026-09-22T14:50:28Z</dcterms:modified>
</cp:coreProperties>
</file>