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005840"/>
          </a:xfrm>
          <a:prstGeom prst="roundRect">
            <a:avLst/>
          </a:prstGeom>
          <a:solidFill>
            <a:srgbClr val="A8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CLOUD-NATIVE AI RESEARCH DISCOVERY PLATFORM</a:t>
            </a:r>
          </a:p>
        </p:txBody>
      </p:sp>
      <p:pic>
        <p:nvPicPr>
          <p:cNvPr id="5" name="Picture 4" descr="r1_slide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73152"/>
            <a:ext cx="2011680" cy="6718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7373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Arial"/>
              </a:defRPr>
            </a:pPr>
            <a:r>
              <a:t>CNAD Project Review — Current Implementation &amp; Demonstration</a:t>
            </a:r>
          </a:p>
          <a:p>
            <a:pPr algn="ctr">
              <a:defRPr sz="1300">
                <a:solidFill>
                  <a:srgbClr val="64748B"/>
                </a:solidFill>
                <a:latin typeface="Arial"/>
              </a:defRPr>
            </a:pPr>
            <a:r>
              <a:t>A Modular Microservices Architecture for Academic Discovery, Automated PDF/Abstract Extraction &amp; NLP Synthesis</a:t>
            </a:r>
          </a:p>
          <a:p>
            <a:pPr algn="ctr">
              <a:defRPr sz="1400" b="1">
                <a:solidFill>
                  <a:srgbClr val="A80D15"/>
                </a:solidFill>
                <a:latin typeface="Arial"/>
              </a:defRPr>
            </a:pPr>
            <a:r>
              <a:t>Wednesday, October 28th,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291840"/>
            <a:ext cx="475488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38328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80D15"/>
                </a:solidFill>
                <a:latin typeface="Arial"/>
              </a:defRPr>
            </a:pPr>
            <a:r>
              <a:t>Project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8404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Dr. Patha Srilatha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Associate Professor</a:t>
            </a:r>
            <a:br/>
            <a:r>
              <a:t>Department of Computer Science &amp; Engineering</a:t>
            </a:r>
            <a:br/>
            <a:r>
              <a:t>KLH CSE Bowrampet Campus</a:t>
            </a:r>
            <a:br/>
            <a:r>
              <a:t>KL Deemed to be University, Hyderabad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91840"/>
            <a:ext cx="475488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338328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Student Team Members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8404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•  B. Akhil  —  2420030141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B.Tech Cloud-Native Application Development (CNAD)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 P. Ruthvik  —  2420030546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B.Tech Cloud-Native Application Development (CNAD)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 S. Akshay  —  2420030579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B.Tech Cloud-Native Application Development (CNAD)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8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0D15"/>
                </a:solidFill>
                <a:latin typeface="Arial"/>
              </a:defRPr>
            </a:pPr>
            <a:r>
              <a:t>CNAD PROJECT REVIEW — IMPLEMENTATION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Project Overview &amp; Problem Statement</a:t>
            </a:r>
          </a:p>
        </p:txBody>
      </p:sp>
      <p:pic>
        <p:nvPicPr>
          <p:cNvPr id="6" name="Picture 5" descr="r1_slide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828800" cy="6107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Cloud-Native AI Research Discovery Platform | Department of CSE, KL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October 28, 2026 | Slide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80D15"/>
                </a:solidFill>
                <a:latin typeface="Arial"/>
              </a:defRPr>
            </a:pPr>
            <a:r>
              <a:t>1. Disconnected Literature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Researchers waste substantial time navigating fragmented academic portals (arXiv, IEEE, CrossRef, PubMed) with disjointed search syntaxes, non-standardized schemas, and proprietary access barriers.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80D15"/>
                </a:solidFill>
                <a:latin typeface="Arial"/>
              </a:defRPr>
            </a:pPr>
            <a:r>
              <a:t>2. Research Paper Reading Fatigue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7452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Reading full 10-25 page papers to understand core contributions, methodologies, and findings is extremely labor-intensive. Manual extraction of key insights introduces subjective human bias.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40"/>
            <a:ext cx="52120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832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80D15"/>
                </a:solidFill>
                <a:latin typeface="Arial"/>
              </a:defRPr>
            </a:pPr>
            <a:r>
              <a:t>3. Contextual Discovery Deficit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9476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Keyword search fails to match ongoing research drafts or abstracts with existing relevant literature. Researchers miss seminal papers due to terminology divergence across domains.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291840"/>
            <a:ext cx="52120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3832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80D15"/>
                </a:solidFill>
                <a:latin typeface="Arial"/>
              </a:defRPr>
            </a:pPr>
            <a:r>
              <a:t>4. Fragmented Research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9476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Bookmarks, collections, and search history are scattered across browser tabs, text notes, and individual storage folders, lacking centralized cloud-native synchronization and retrieval.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212080"/>
            <a:ext cx="10728655" cy="10515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257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THE PROPOSED PLATFORM SOLUTION: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 unified cloud-native environment integrating live academic search (OpenAlex), dual-mode document intake (raw PDF and pasted abstract), structured scientific NLP extraction, contextual Jaccard recommendations, and persistent library storage in a decoupled microservices architecture.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8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0D15"/>
                </a:solidFill>
                <a:latin typeface="Arial"/>
              </a:defRPr>
            </a:pPr>
            <a:r>
              <a:t>CNAD PROJECT REVIEW — IMPLEMENTATION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Objectives &amp; Problem Gap Identification</a:t>
            </a:r>
          </a:p>
        </p:txBody>
      </p:sp>
      <p:pic>
        <p:nvPicPr>
          <p:cNvPr id="6" name="Picture 5" descr="r1_slide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828800" cy="6107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Cloud-Native AI Research Discovery Platform | Department of CSE, KL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October 28, 2026 | Slide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2120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173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Platform Objectives (Implemented)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F172A"/>
                </a:solidFill>
                <a:latin typeface="Arial"/>
              </a:defRPr>
            </a:pPr>
            <a:r>
              <a:t>• Centralized Academic Discovery: </a:t>
            </a:r>
            <a:r>
              <a:rPr b="0" sz="1000">
                <a:solidFill>
                  <a:srgbClr val="64748B"/>
                </a:solidFill>
              </a:rPr>
              <a:t>Provide a single interface querying 250M+ open scholarly papers via OpenAlex with automatic local catalog fallback.</a:t>
            </a:r>
          </a:p>
          <a:p>
            <a:pPr>
              <a:defRPr b="1" sz="1050">
                <a:solidFill>
                  <a:srgbClr val="0F172A"/>
                </a:solidFill>
                <a:latin typeface="Arial"/>
              </a:defRPr>
            </a:pPr>
            <a:r>
              <a:t>• Dual Ingestion Pipeline: </a:t>
            </a:r>
            <a:r>
              <a:rPr b="0" sz="1000">
                <a:solidFill>
                  <a:srgbClr val="64748B"/>
                </a:solidFill>
              </a:rPr>
              <a:t>Accept research abstracts and full text-based PDF papers with real-time progress tracking.</a:t>
            </a:r>
          </a:p>
          <a:p>
            <a:pPr>
              <a:defRPr b="1" sz="1050">
                <a:solidFill>
                  <a:srgbClr val="0F172A"/>
                </a:solidFill>
                <a:latin typeface="Arial"/>
              </a:defRPr>
            </a:pPr>
            <a:r>
              <a:t>• Automated Scientific Section Extraction: </a:t>
            </a:r>
            <a:r>
              <a:rPr b="0" sz="1000">
                <a:solidFill>
                  <a:srgbClr val="64748B"/>
                </a:solidFill>
              </a:rPr>
              <a:t>Extract structured research problems, objectives, methodology, quantitative findings, limitations, gaps, and keywords.</a:t>
            </a:r>
          </a:p>
          <a:p>
            <a:pPr>
              <a:defRPr b="1" sz="1050">
                <a:solidFill>
                  <a:srgbClr val="0F172A"/>
                </a:solidFill>
                <a:latin typeface="Arial"/>
              </a:defRPr>
            </a:pPr>
            <a:r>
              <a:t>• Contextual Similarity Recommendations: </a:t>
            </a:r>
            <a:r>
              <a:rPr b="0" sz="1000">
                <a:solidFill>
                  <a:srgbClr val="64748B"/>
                </a:solidFill>
              </a:rPr>
              <a:t>Compute literature recommendations from working abstracts using transparent Jaccard term overlap.</a:t>
            </a:r>
          </a:p>
          <a:p>
            <a:pPr>
              <a:defRPr b="1" sz="1050">
                <a:solidFill>
                  <a:srgbClr val="0F172A"/>
                </a:solidFill>
                <a:latin typeface="Arial"/>
              </a:defRPr>
            </a:pPr>
            <a:r>
              <a:t>• Binary Document Streaming: </a:t>
            </a:r>
            <a:r>
              <a:rPr b="0" sz="1000">
                <a:solidFill>
                  <a:srgbClr val="64748B"/>
                </a:solidFill>
              </a:rPr>
              <a:t>Enable seamless PDF storage and in-browser streaming via S3-compatible MinIO object storage.</a:t>
            </a:r>
          </a:p>
          <a:p>
            <a:pPr>
              <a:defRPr b="1" sz="1050">
                <a:solidFill>
                  <a:srgbClr val="0F172A"/>
                </a:solidFill>
                <a:latin typeface="Arial"/>
              </a:defRPr>
            </a:pPr>
            <a:r>
              <a:t>• Cloud-Native Microservices Architecture: </a:t>
            </a:r>
            <a:r>
              <a:rPr b="0" sz="1000">
                <a:solidFill>
                  <a:srgbClr val="64748B"/>
                </a:solidFill>
              </a:rPr>
              <a:t>Decouple services into containerized, independently scalable units with health checks and auto-restart policies.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2120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173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80D15"/>
                </a:solidFill>
                <a:latin typeface="Arial"/>
              </a:defRPr>
            </a:pPr>
            <a:r>
              <a:t>Literature Survey &amp; Identified Research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F172A"/>
                </a:solidFill>
              </a:defRPr>
            </a:pPr>
            <a:r>
              <a:t>• Kratzke &amp; Quint (2017) [1]: </a:t>
            </a:r>
            <a:r>
              <a:rPr b="0" sz="1000">
                <a:solidFill>
                  <a:srgbClr val="64748B"/>
                </a:solidFill>
              </a:rPr>
              <a:t>Identified microservices and containers as essential for cloud scalability, but noted gaps in decoupled scholarly tool deployment.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Di Francesco et al. (2019) [2]: </a:t>
            </a:r>
            <a:r>
              <a:rPr b="0" sz="1000">
                <a:solidFill>
                  <a:srgbClr val="64748B"/>
                </a:solidFill>
              </a:rPr>
              <a:t>Demonstrated that service decomposition improves reliability, yet highlighted challenges in service orchestration and asynchronous workflows.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Asyrofi et al. (2021) [3]: </a:t>
            </a:r>
            <a:r>
              <a:rPr b="0" sz="1000">
                <a:solidFill>
                  <a:srgbClr val="64748B"/>
                </a:solidFill>
              </a:rPr>
              <a:t>Surveyed paper recommendation systems, emphasizing the need for transparent, explainable recommendations over black-box proprietary ranking.</a:t>
            </a:r>
          </a:p>
          <a:p>
            <a:pPr>
              <a:defRPr b="1" sz="1050">
                <a:solidFill>
                  <a:srgbClr val="A80D15"/>
                </a:solidFill>
              </a:defRPr>
            </a:pPr>
            <a:r>
              <a:t>• The Concrete Problem Gap: </a:t>
            </a:r>
            <a:r>
              <a:rPr b="1" sz="1000">
                <a:solidFill>
                  <a:srgbClr val="0F172A"/>
                </a:solidFill>
              </a:rPr>
              <a:t>Existing tools separate search (Google Scholar), reference management (Zotero), and document analysis. No unified, containerized platform combines real-time discovery, structural NLP extraction, object storage, and contextual recommendations in an open cloud-native microservices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8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0D15"/>
                </a:solidFill>
                <a:latin typeface="Arial"/>
              </a:defRPr>
            </a:pPr>
            <a:r>
              <a:t>CNAD PROJECT REVIEW — IMPLEMENTATION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System Architecture &amp; Microservices Request Flow</a:t>
            </a:r>
          </a:p>
        </p:txBody>
      </p:sp>
      <p:pic>
        <p:nvPicPr>
          <p:cNvPr id="6" name="Picture 5" descr="r1_slide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828800" cy="6107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Cloud-Native AI Research Discovery Platform | Department of CSE, KL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October 28, 2026 | Slide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728655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1732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Client Layer: React 18 + Vite SPA (:5173)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6916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Modules: Dashboard | Academic Search (OpenAlex) | Dual-Mode Upload (PDF &amp; Abstract) | Paper Details &amp; AI View | Library Bookmarks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31720"/>
            <a:ext cx="1072865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42316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API Gateway Reverse Proxy Layer: Express Gateway (:3000)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697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Features: Single Entrypoint | JWT Header Forwarding | Cluster Health Check (/health) | Helmet Cross-Origin Resource Policy (PDF Stream)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40"/>
            <a:ext cx="2029968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83280"/>
            <a:ext cx="17556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80D15"/>
                </a:solidFill>
                <a:latin typeface="Arial"/>
              </a:defRPr>
            </a:pPr>
            <a:r>
              <a:t>Auth Service</a:t>
            </a:r>
            <a:br/>
            <a:r>
              <a:t>(:3001, Node.js)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184708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• BCrypt (10 rounds)</a:t>
            </a:r>
            <a:br/>
            <a:r>
              <a:t>• Stateless JWT (7d)</a:t>
            </a:r>
            <a:br/>
            <a:r>
              <a:t>• RBAC Middleware</a:t>
            </a:r>
            <a:br/>
            <a:r>
              <a:t>• User schema validation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98648" y="3291840"/>
            <a:ext cx="2029968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35808" y="3383280"/>
            <a:ext cx="17556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Paper Service</a:t>
            </a:r>
            <a:br/>
            <a:r>
              <a:t>(:3002, Node.js)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0088" y="3840480"/>
            <a:ext cx="184708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• Paper CRUD &amp; queries</a:t>
            </a:r>
            <a:br/>
            <a:r>
              <a:t>• Abstract ingestion</a:t>
            </a:r>
            <a:br/>
            <a:r>
              <a:t>• MinIO S3 SDK client</a:t>
            </a:r>
            <a:br/>
            <a:r>
              <a:t>• Re-analysis coordinator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65776" y="3291840"/>
            <a:ext cx="2029968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02936" y="3383280"/>
            <a:ext cx="17556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Search &amp; Rec Service</a:t>
            </a:r>
            <a:br/>
            <a:r>
              <a:t>(:3003, Node.js)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7216" y="3840480"/>
            <a:ext cx="184708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• OpenAlex REST API</a:t>
            </a:r>
            <a:br/>
            <a:r>
              <a:t>• Local DB Fallback</a:t>
            </a:r>
            <a:br/>
            <a:r>
              <a:t>• Jaccard term matching</a:t>
            </a:r>
            <a:br/>
            <a:r>
              <a:t>• Search history logs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2904" y="3291840"/>
            <a:ext cx="2029968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0064" y="3383280"/>
            <a:ext cx="17556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PDF Processing Service</a:t>
            </a:r>
            <a:br/>
            <a:r>
              <a:t>(:8001, FastAPI)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24344" y="3840480"/>
            <a:ext cx="184708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• PyMuPDF text stream</a:t>
            </a:r>
            <a:br/>
            <a:r>
              <a:t>• S3 byte downloading</a:t>
            </a:r>
            <a:br/>
            <a:r>
              <a:t>• Malformed PDF trapping</a:t>
            </a:r>
            <a:br/>
            <a:r>
              <a:t>• Zero-text detection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00032" y="3291840"/>
            <a:ext cx="2029968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37192" y="3383280"/>
            <a:ext cx="17556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AI Analysis Service</a:t>
            </a:r>
            <a:br/>
            <a:r>
              <a:t>(:8002, FastAPI)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91472" y="3840480"/>
            <a:ext cx="184708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• Scientific NLP engine</a:t>
            </a:r>
            <a:br/>
            <a:r>
              <a:t>• 7-section extraction</a:t>
            </a:r>
            <a:br/>
            <a:r>
              <a:t>• LLM fallback gateway</a:t>
            </a:r>
            <a:br/>
            <a:r>
              <a:t>• Async webhook callback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166360"/>
            <a:ext cx="521208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2578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Arial"/>
              </a:defRPr>
            </a:pPr>
            <a:r>
              <a:t>Persistence: MongoDB Atlas / Engine (:27017)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53212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Collections: users, papers, paperanalyses, bookmarks, recommendations, searchhistories.</a:t>
            </a:r>
            <a:br/>
            <a:r>
              <a:t>Indexes: Text search ($text on title, abstract, keywords), sparse DOIs, user bookmarks.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5166360"/>
            <a:ext cx="521208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52578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80D15"/>
                </a:solidFill>
                <a:latin typeface="Arial"/>
              </a:defRPr>
            </a:pPr>
            <a:r>
              <a:t>Object Storage: MinIO S3 API (:9000 / :9001)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53212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Bucket: research-papers | Cloud-Native S3-compatible binary blob storage.</a:t>
            </a:r>
            <a:br/>
            <a:r>
              <a:t>Access: Automated initialization (minio-setup), presigned URLs, inline stream proxying.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8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0D15"/>
                </a:solidFill>
                <a:latin typeface="Arial"/>
              </a:defRPr>
            </a:pPr>
            <a:r>
              <a:t>CNAD PROJECT REVIEW — IMPLEMENTATION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Technology Stack &amp; Architectural Rationale</a:t>
            </a:r>
          </a:p>
        </p:txBody>
      </p:sp>
      <p:pic>
        <p:nvPicPr>
          <p:cNvPr id="6" name="Picture 5" descr="r1_slide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828800" cy="6107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Cloud-Native AI Research Discovery Platform | Department of CSE, KL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October 28, 2026 | Slide 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37160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4389120"/>
                <a:gridCol w="2041855"/>
              </a:tblGrid>
              <a:tr h="692331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Component Tier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Selected Technology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Architectural Rationale &amp; Purpose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Verification 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Frontend UI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React 18 + Vite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Component-driven SPA, fast HMR, 925ms production build, responsive dual-tab stepper.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Implemented &amp; Verified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API Gateway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Express + Proxy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Single entrypoint, stateless token verification, Helmet CORP for PDF streams.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Implemented &amp; 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Backend Services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Node.js (v20) + Express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Asynchronous non-blocking I/O ideal for metadata handling and REST endpoints.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Implemented &amp; Verified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PDF &amp; AI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Python 3.10 + FastAPI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High throughput async engine with native C-bindings for PyMuPDF and NLP computation.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Implemented &amp; 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Document DB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MongoDB (Mongoose)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Flexible schema accommodating nested authors, analytical fields, and text indexes.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Implemented &amp; Verified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Object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MinIO (S3 API)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Cloud-native S3-compatible binary PDF storage decoupling files from compute containers.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Implemented &amp; 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8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0D15"/>
                </a:solidFill>
                <a:latin typeface="Arial"/>
              </a:defRPr>
            </a:pPr>
            <a:r>
              <a:t>CNAD PROJECT REVIEW — IMPLEMENTATION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Academic Research Discovery Workflow</a:t>
            </a:r>
          </a:p>
        </p:txBody>
      </p:sp>
      <p:pic>
        <p:nvPicPr>
          <p:cNvPr id="6" name="Picture 5" descr="r1_slide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828800" cy="6107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Cloud-Native AI Research Discovery Platform | Department of CSE, KL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October 28, 2026 | Slide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338328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1. OpenAlex Live Query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• Live Academic Search API:</a:t>
            </a:r>
            <a:br/>
            <a:r>
              <a:t>Connects to OpenAlex REST API indexing 250M+ scholarly works across all scientific domains.</a:t>
            </a:r>
            <a:br/>
            <a:br/>
            <a:r>
              <a:t>• Metadata Extraction:</a:t>
            </a:r>
            <a:br/>
            <a:r>
              <a:t>Parses work title, authors, affiliations, publication year, publication venue/journal, open-access PDF links, and DOIs.</a:t>
            </a:r>
            <a:br/>
            <a:br/>
            <a:r>
              <a:t>• Paginated Retrieval:</a:t>
            </a:r>
            <a:br/>
            <a:r>
              <a:t>Supports configurable page numbers and limits up to 50 results per query with relevance sorting.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38328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4630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80D15"/>
                </a:solidFill>
                <a:latin typeface="Arial"/>
              </a:defRPr>
            </a:pPr>
            <a:r>
              <a:t>2. Resilient Catalog 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9202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• Automatic Fault Detection:</a:t>
            </a:r>
            <a:br/>
            <a:r>
              <a:t>If OpenAlex times out, reaches rate limits, or is offline, the gateway catches the error instantly.</a:t>
            </a:r>
            <a:br/>
            <a:br/>
            <a:r>
              <a:t>• Local MongoDB Fallback:</a:t>
            </a:r>
            <a:br/>
            <a:r>
              <a:t>Executes multi-field regex and text index queries across local papers (title, abstract, keywords, author names).</a:t>
            </a:r>
            <a:br/>
            <a:br/>
            <a:r>
              <a:t>• Zero Downtime:</a:t>
            </a:r>
            <a:br/>
            <a:r>
              <a:t>Returns local catalog papers with an informational notice flag to ensure uninterrupted research workflows.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71600"/>
            <a:ext cx="338328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4630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3. Interactive Exploration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9202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• Verified Results Verification:</a:t>
            </a:r>
            <a:br/>
            <a:r>
              <a:t>Verified against queries such as 'cloud native microservices' returning 10+ live papers with complete citation metadata.</a:t>
            </a:r>
            <a:br/>
            <a:br/>
            <a:r>
              <a:t>• Seamless Library Ingestion:</a:t>
            </a:r>
            <a:br/>
            <a:r>
              <a:t>Users can click 'Save to Library' to import external research records directly into MongoDB.</a:t>
            </a:r>
            <a:br/>
            <a:br/>
            <a:r>
              <a:t>• Contextual Bridging:</a:t>
            </a:r>
            <a:br/>
            <a:r>
              <a:t>Imported papers become available for contextual recommendation matching and local analysis.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12080"/>
            <a:ext cx="10728655" cy="10515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0352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VERIFIED IN E2E SUITE (STEP 4 &amp; 15):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OpenAlex query returned 10 real papers (Total indexed: 19,109 matches for microservices). When switching to local catalog, multi-field regex returned verified uploaded records with 100% precision.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8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0D15"/>
                </a:solidFill>
                <a:latin typeface="Arial"/>
              </a:defRPr>
            </a:pPr>
            <a:r>
              <a:t>HIGHEST PRIORITY DEMONSTRATION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Abstract Submission &amp; Scientific AI Analysis Pipeline</a:t>
            </a:r>
          </a:p>
        </p:txBody>
      </p:sp>
      <p:pic>
        <p:nvPicPr>
          <p:cNvPr id="6" name="Picture 5" descr="r1_slide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828800" cy="6107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Cloud-Native AI Research Discovery Platform | Department of CSE, KL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October 28, 2026 | Slide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2120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173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80D15"/>
                </a:solidFill>
                <a:latin typeface="Arial"/>
              </a:defRPr>
            </a:pPr>
            <a:r>
              <a:t>Dual-Mode Ingest &amp; Asynchronous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1. Submission &amp; Input Validation (Frontend &amp; Gateway):</a:t>
            </a:r>
            <a:br/>
            <a:r>
              <a:t>• Users paste raw abstract text into the specialized Upload tab.</a:t>
            </a:r>
            <a:br/>
            <a:r>
              <a:t>• Input validation verifies non-empty text; blank input returns HTTP 400.</a:t>
            </a:r>
            <a:br/>
            <a:r>
              <a:t>• Dynamic title extraction parses first sentence if omitted.</a:t>
            </a:r>
            <a:br/>
            <a:br/>
            <a:r>
              <a:t>2. Asynchronous Dispatch &amp; Status Progression:</a:t>
            </a:r>
            <a:br/>
            <a:r>
              <a:t>• Creates MongoDB record with source='abstract' and status='analyzing'.</a:t>
            </a:r>
            <a:br/>
            <a:r>
              <a:t>• Paper Service triggers AI Service via internal network POST.</a:t>
            </a:r>
            <a:br/>
            <a:r>
              <a:t>• UI displays 4-stage stepper: Validation → Ingest → Section Analysis → Synthesis.</a:t>
            </a:r>
            <a:br/>
            <a:br/>
            <a:r>
              <a:t>3. Local Scientific NLP Engine (nlp_analyzer.py):</a:t>
            </a:r>
            <a:br/>
            <a:r>
              <a:t>• Executed automatically when no external API key is set.</a:t>
            </a:r>
            <a:br/>
            <a:r>
              <a:t>• Deterministic extractive pipeline analyzing scientific sentence syntax.</a:t>
            </a:r>
            <a:br/>
            <a:r>
              <a:t>• Explicitly credited as 'Local Scientific NLP Pipeline' (no fake LLM claims).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2120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173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Generated Structured Scientific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2563EB"/>
                </a:solidFill>
              </a:defRPr>
            </a:pPr>
            <a:r>
              <a:t>✔ Research Problem: </a:t>
            </a:r>
            <a:r>
              <a:rPr b="0" sz="950">
                <a:solidFill>
                  <a:srgbClr val="0F172A"/>
                </a:solidFill>
              </a:rPr>
              <a:t>Identifies core challenges, bottlenecks, or constraints addressed in the work.</a:t>
            </a:r>
          </a:p>
          <a:p>
            <a:pPr>
              <a:defRPr b="1" sz="1000">
                <a:solidFill>
                  <a:srgbClr val="2563EB"/>
                </a:solidFill>
              </a:defRPr>
            </a:pPr>
            <a:r>
              <a:t>✔ Primary Objectives: </a:t>
            </a:r>
            <a:r>
              <a:rPr b="0" sz="950">
                <a:solidFill>
                  <a:srgbClr val="0F172A"/>
                </a:solidFill>
              </a:rPr>
              <a:t>Synthesizes primary research aims, architectural goals, and hypotheses.</a:t>
            </a:r>
          </a:p>
          <a:p>
            <a:pPr>
              <a:defRPr b="1" sz="1000">
                <a:solidFill>
                  <a:srgbClr val="2563EB"/>
                </a:solidFill>
              </a:defRPr>
            </a:pPr>
            <a:r>
              <a:t>✔ Methodology: </a:t>
            </a:r>
            <a:r>
              <a:rPr b="0" sz="950">
                <a:solidFill>
                  <a:srgbClr val="0F172A"/>
                </a:solidFill>
              </a:rPr>
              <a:t>Extracts experimental setups, algorithms, frameworks, and benchmark designs.</a:t>
            </a:r>
          </a:p>
          <a:p>
            <a:pPr>
              <a:defRPr b="1" sz="1000">
                <a:solidFill>
                  <a:srgbClr val="2563EB"/>
                </a:solidFill>
              </a:defRPr>
            </a:pPr>
            <a:r>
              <a:t>✔ Major Findings: </a:t>
            </a:r>
            <a:r>
              <a:rPr b="0" sz="950">
                <a:solidFill>
                  <a:srgbClr val="0F172A"/>
                </a:solidFill>
              </a:rPr>
              <a:t>Scores and extracts quantitative achievements (e.g., '34% tail latency reduction, 21% cost drop').</a:t>
            </a:r>
          </a:p>
          <a:p>
            <a:pPr>
              <a:defRPr b="1" sz="1000">
                <a:solidFill>
                  <a:srgbClr val="2563EB"/>
                </a:solidFill>
              </a:defRPr>
            </a:pPr>
            <a:r>
              <a:t>✔ Limitations &amp; Gaps: </a:t>
            </a:r>
            <a:r>
              <a:rPr b="0" sz="950">
                <a:solidFill>
                  <a:srgbClr val="0F172A"/>
                </a:solidFill>
              </a:rPr>
              <a:t>Identifies explicitly stated constraints, threats to validity, and scoped edge cases.</a:t>
            </a:r>
          </a:p>
          <a:p>
            <a:pPr>
              <a:defRPr b="1" sz="1000">
                <a:solidFill>
                  <a:srgbClr val="2563EB"/>
                </a:solidFill>
              </a:defRPr>
            </a:pPr>
            <a:r>
              <a:t>✔ Future Directions: </a:t>
            </a:r>
            <a:r>
              <a:rPr b="0" sz="950">
                <a:solidFill>
                  <a:srgbClr val="0F172A"/>
                </a:solidFill>
              </a:rPr>
              <a:t>Extracts author recommendations for forward-looking investigations.</a:t>
            </a:r>
          </a:p>
          <a:p>
            <a:pPr>
              <a:defRPr b="1" sz="1000">
                <a:solidFill>
                  <a:srgbClr val="2563EB"/>
                </a:solidFill>
              </a:defRPr>
            </a:pPr>
            <a:r>
              <a:t>✔ Keywords &amp; Domain: </a:t>
            </a:r>
            <a:r>
              <a:rPr b="0" sz="950">
                <a:solidFill>
                  <a:srgbClr val="0F172A"/>
                </a:solidFill>
              </a:rPr>
              <a:t>Frequency-weighted terminology vector and domain classification (Cloud Computing, AI).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8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0D15"/>
                </a:solidFill>
                <a:latin typeface="Arial"/>
              </a:defRPr>
            </a:pPr>
            <a:r>
              <a:t>CNAD PROJECT REVIEW — IMPLEMENTATION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PDF Upload, MinIO Storage &amp; Text Extraction Pipeline</a:t>
            </a:r>
          </a:p>
        </p:txBody>
      </p:sp>
      <p:pic>
        <p:nvPicPr>
          <p:cNvPr id="6" name="Picture 5" descr="r1_slide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828800" cy="6107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Cloud-Native AI Research Discovery Platform | Department of CSE, KL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October 28, 2026 | Slide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251460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1. Multipart Upload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2024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• 50MB file size limit</a:t>
            </a:r>
            <a:br/>
            <a:r>
              <a:t>• MIME type validation (application/pdf)</a:t>
            </a:r>
            <a:br/>
            <a:r>
              <a:t>• Uploaded to MinIO bucket via AWS SDK client</a:t>
            </a:r>
            <a:br/>
            <a:r>
              <a:t>• Unique key: papers/&lt;uid&gt;/&lt;ts&gt;-&lt;name&gt;.pdf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5576" y="1371600"/>
            <a:ext cx="251460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146304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2. Text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192024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• Fast C-native PyMuPDF (fitz) extraction</a:t>
            </a:r>
            <a:br/>
            <a:r>
              <a:t>• Handles complex multi-column typography</a:t>
            </a:r>
            <a:br/>
            <a:r>
              <a:t>• Preserves section flows and technical tables</a:t>
            </a:r>
            <a:br/>
            <a:r>
              <a:t>• Asynchronous webhook updates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371600"/>
            <a:ext cx="251460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146304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80D15"/>
                </a:solidFill>
                <a:latin typeface="Arial"/>
              </a:defRPr>
            </a:pPr>
            <a:r>
              <a:t>3. Edge Case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192024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• Malformed PDFs caught safely (status: 'failed')</a:t>
            </a:r>
            <a:br/>
            <a:r>
              <a:t>• Scanned/image-only PDFs detected (&lt;50 chars)</a:t>
            </a:r>
            <a:br/>
            <a:r>
              <a:t>• Informative status: 'completed_without_ai'</a:t>
            </a:r>
            <a:br/>
            <a:r>
              <a:t>• Guides user to submit OCR-processed 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3688" y="1371600"/>
            <a:ext cx="251460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0848" y="146304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4. S3 Binary Stream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192024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• Endpoint: GET /api/papers/:id/pdf</a:t>
            </a:r>
            <a:br/>
            <a:r>
              <a:t>• Streams binary from MinIO through Gateway</a:t>
            </a:r>
            <a:br/>
            <a:r>
              <a:t>• Helmet crossOriginResourcePolicy header</a:t>
            </a:r>
            <a:br/>
            <a:r>
              <a:t>• In-browser inspection without external tools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074920"/>
            <a:ext cx="10728655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16636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Verified Execution in End-to-End Test Suite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406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• Valid PDF Upload (Step 9-11): Stored in MinIO, extracted by PyMuPDF, analyzed by AI service, streamed 1,142 bytes back to client.</a:t>
            </a:r>
            <a:br/>
            <a:r>
              <a:t>• Corrupt PDF Handling (Step 12): Malformed file trapped gracefully without process termination, marked 'failed'.</a:t>
            </a:r>
            <a:br/>
            <a:r>
              <a:t>• Scanned PDF Handling (Step 13): Zero-text PDF detected and marked 'completed_without_ai' with actionable feedback.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8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0D15"/>
                </a:solidFill>
                <a:latin typeface="Arial"/>
              </a:defRPr>
            </a:pPr>
            <a:r>
              <a:t>CNAD PROJECT REVIEW — IMPLEMENTATION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Contextual Recommendations &amp; Personal Research Library</a:t>
            </a:r>
          </a:p>
        </p:txBody>
      </p:sp>
      <p:pic>
        <p:nvPicPr>
          <p:cNvPr id="6" name="Picture 5" descr="r1_slide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828800" cy="6107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Cloud-Native AI Research Discovery Platform | Department of CSE, KL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October 28, 2026 | Slide 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2120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173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Contextual Recommendation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• Transparent Jaccard Similarity Model:</a:t>
            </a:r>
            <a:br/>
            <a:r>
              <a:t>Unlike opaque black-box recommendations, the platform implements an explainable set-theoretic similarity function:</a:t>
            </a:r>
            <a:br/>
            <a:br/>
            <a:r>
              <a:t>        Similarity(A, B) = |A ∩ B| / |A ∪ B|</a:t>
            </a:r>
            <a:br/>
            <a:br/>
            <a:r>
              <a:t>• Term Extraction from Working Abstracts:</a:t>
            </a:r>
            <a:br/>
            <a:r>
              <a:t>Stopwords are stripped ('the', 'paper', 'approach') and domain content terms are scored to form the query keyword vector.</a:t>
            </a:r>
            <a:br/>
            <a:br/>
            <a:r>
              <a:t>• Candidate Ranking &amp; Scored Matches:</a:t>
            </a:r>
            <a:br/>
            <a:r>
              <a:t>Matches local candidate literature and scores between 0.0 and 1.0 based on keyword overlap (70%) and research domain alignment (30%).</a:t>
            </a:r>
            <a:br/>
            <a:br/>
            <a:r>
              <a:t>• Explainable Match Reasons:</a:t>
            </a:r>
            <a:br/>
            <a:r>
              <a:t>Results explicitly state matching concepts (e.g., 'Shares keywords: Kubernetes, Microservices, Autoscaling').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2120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173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80D15"/>
                </a:solidFill>
                <a:latin typeface="Arial"/>
              </a:defRPr>
            </a:pPr>
            <a:r>
              <a:t>Personal Research Library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• One-Click Research Bookmarking:</a:t>
            </a:r>
            <a:br/>
            <a:r>
              <a:t>Users save discovered or uploaded papers directly into their personal MongoDB library collection.</a:t>
            </a:r>
            <a:br/>
            <a:br/>
            <a:r>
              <a:t>• Multi-Session Persistence:</a:t>
            </a:r>
            <a:br/>
            <a:r>
              <a:t>Bookmarked papers, AI analytical summaries, and S3 file keys persist across browser refreshes and user logouts.</a:t>
            </a:r>
            <a:br/>
            <a:br/>
            <a:r>
              <a:t>• Duplicate Prevention:</a:t>
            </a:r>
            <a:br/>
            <a:r>
              <a:t>Compound unique indexes on (userId, paperId) ensure no duplicate bookmarks clutter user collections.</a:t>
            </a:r>
            <a:br/>
            <a:br/>
            <a:r>
              <a:t>• Direct Detail Navigation:</a:t>
            </a:r>
            <a:br/>
            <a:r>
              <a:t>Users open saved papers directly from the library to review AI-generated problem statements, findings, and original PDF streams.</a:t>
            </a:r>
            <a:br/>
            <a:br/>
            <a:r>
              <a:t>• Verified Status:</a:t>
            </a:r>
            <a:br/>
            <a:r>
              <a:t>Tested and confirmed in Step 14 of E2E verification suite.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8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0D15"/>
                </a:solidFill>
                <a:latin typeface="Arial"/>
              </a:defRPr>
            </a:pPr>
            <a:r>
              <a:t>CNAD PROJECT REVIEW — IMPLEMENTATION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Security, Persistence &amp; Cloud-Native Reliability</a:t>
            </a:r>
          </a:p>
        </p:txBody>
      </p:sp>
      <p:pic>
        <p:nvPicPr>
          <p:cNvPr id="6" name="Picture 5" descr="r1_slide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828800" cy="6107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Cloud-Native AI Research Discovery Platform | Department of CSE, KL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October 28, 2026 | Slide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33832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80D15"/>
                </a:solidFill>
                <a:latin typeface="Arial"/>
              </a:defRPr>
            </a:pPr>
            <a:r>
              <a:t>Security &amp; Access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• Password Hashing:</a:t>
            </a:r>
            <a:br/>
            <a:r>
              <a:t>BCrypt with 10 salt rounds ensures no plain text credentials are stored.</a:t>
            </a:r>
            <a:br/>
            <a:br/>
            <a:r>
              <a:t>• Stateless JWT Tokens:</a:t>
            </a:r>
            <a:br/>
            <a:r>
              <a:t>Signed with HMAC-SHA256, verified by API Gateway and downstream services.</a:t>
            </a:r>
            <a:br/>
            <a:br/>
            <a:r>
              <a:t>• Role-Based Access Control:</a:t>
            </a:r>
            <a:br/>
            <a:r>
              <a:t>Middleware enforces permissions across student, researcher, and admin roles.</a:t>
            </a:r>
            <a:br/>
            <a:br/>
            <a:r>
              <a:t>• Input Validation:</a:t>
            </a:r>
            <a:br/>
            <a:r>
              <a:t>Strict schema enforcement on abstracts (10,000 char buffer) and PDF files (50MB cap).</a:t>
            </a:r>
            <a:br/>
            <a:br/>
            <a:r>
              <a:t>• CORS &amp; Helmet Protection:</a:t>
            </a:r>
            <a:br/>
            <a:r>
              <a:t>Restricts unauthorized origins while allowing cross-origin PDF streaming.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3832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4630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Multi-Tier Persistence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9202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• MongoDB Storage:</a:t>
            </a:r>
            <a:br/>
            <a:r>
              <a:t>Stores user profiles, academic metadata, structured AI analyses, and bookmarks.</a:t>
            </a:r>
            <a:br/>
            <a:br/>
            <a:r>
              <a:t>• Persistent Volumes:</a:t>
            </a:r>
            <a:br/>
            <a:r>
              <a:t>Docker named volume 'mongo-data' ensures database survives container rebuilds.</a:t>
            </a:r>
            <a:br/>
            <a:br/>
            <a:r>
              <a:t>• MinIO Object Storage:</a:t>
            </a:r>
            <a:br/>
            <a:r>
              <a:t>S3-compatible bucket 'research-papers' with persistent volume 'minio-data'.</a:t>
            </a:r>
            <a:br/>
            <a:br/>
            <a:r>
              <a:t>• Relational Referencing:</a:t>
            </a:r>
            <a:br/>
            <a:r>
              <a:t>Mongoose references link Paper records to PaperAnalysis documents with compound index protection.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71600"/>
            <a:ext cx="33832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4630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Cloud-Native Reliability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9202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• Service Health Probes:</a:t>
            </a:r>
            <a:br/>
            <a:r>
              <a:t>API Gateway exposes /health aggregating live downstream probes for all 5 microservices.</a:t>
            </a:r>
            <a:br/>
            <a:br/>
            <a:r>
              <a:t>• Container Restart Policies:</a:t>
            </a:r>
            <a:br/>
            <a:r>
              <a:t>Persistent services configured with 'restart: unless-stopped' for auto-recovery.</a:t>
            </a:r>
            <a:br/>
            <a:br/>
            <a:r>
              <a:t>• Isolated Bridge Network:</a:t>
            </a:r>
            <a:br/>
            <a:r>
              <a:t>Services communicate via internal Docker DNS names ('mongodb', 'paper-service').</a:t>
            </a:r>
            <a:br/>
            <a:br/>
            <a:r>
              <a:t>• Non-Blocking Timeouts:</a:t>
            </a:r>
            <a:br/>
            <a:r>
              <a:t>PyMuPDF, AI analysis, and OpenAlex calls protected by circuit timeouts to prevent cascading failure.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8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0D15"/>
                </a:solidFill>
                <a:latin typeface="Arial"/>
              </a:defRPr>
            </a:pPr>
            <a:r>
              <a:t>CNAD PROJECT REVIEW — IMPLEMENTATION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Implementation &amp; Automated Verification Results</a:t>
            </a:r>
          </a:p>
        </p:txBody>
      </p:sp>
      <p:pic>
        <p:nvPicPr>
          <p:cNvPr id="6" name="Picture 5" descr="r1_slide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828800" cy="6107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Cloud-Native AI Research Discovery Platform | Department of CSE, KL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October 28, 2026 | Slide 11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325880"/>
          <a:ext cx="10728655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560320"/>
                <a:gridCol w="3962095"/>
                <a:gridCol w="2011680"/>
              </a:tblGrid>
              <a:tr h="611505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Verification Scope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Test Suite /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Observed Test Outcome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Result 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Frontend Build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Vite Production Bundler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Zero syntax errors, 1936 modules transformed, built in 925ms.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PASSED (0 Errors)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Auth Service Unit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Jest + Supertest Suite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7 / 7 tests passed (JWT verify, expiry, RBAC roles, BCrypt hashing).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7 / 7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Paper Service Unit Tests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Jest Model &amp; Schema Suite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11 / 11 tests passed (Abstract source, status enum, Joi validations).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11 / 11 PASSED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Search Service Unit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Jest Recommendation Suite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11 / 11 tests passed (Jaccard similarity, stopword filtering, schemas).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11 / 11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E2E Integration Suite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python -u test_e2e.py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17 / 17 steps passed through API Gateway (port 3000).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17 / 17 PASSED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Abstract &amp; AI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End-to-End Ingest &amp; Poll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Extracted Problem, Objectives, Methodology, Findings, Limitations, Gaps.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PDF Ingest &amp; Storage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MinIO + PyMuPDF Extraction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Uploaded, extracted text, handled malformed PDF, streamed binary PDF.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VERIFIED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8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0D15"/>
                </a:solidFill>
                <a:latin typeface="Arial"/>
              </a:defRPr>
            </a:pPr>
            <a:r>
              <a:t>CNAD PROJECT REVIEW — IMPLEMENTATION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Cloud-Native Implementation: Current Status Matrix</a:t>
            </a:r>
          </a:p>
        </p:txBody>
      </p:sp>
      <p:pic>
        <p:nvPicPr>
          <p:cNvPr id="6" name="Picture 5" descr="r1_slide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828800" cy="6107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Cloud-Native AI Research Discovery Platform | Department of CSE, KL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October 28, 2026 | Slide 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325880"/>
          <a:ext cx="10728655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011680"/>
                <a:gridCol w="4144975"/>
                <a:gridCol w="2011680"/>
              </a:tblGrid>
              <a:tr h="4447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Cloud-Native 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Technology Component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Current Implementation Detail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Implementation State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Containerization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Docker &amp; Docker Compose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All 9 services containerized with custom Dockerfiles &amp; healthchecks.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Implemented &amp; Verified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Microservice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5 Discrete Node/Python Svcs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Decoupled services communicating via internal Docker bridge network.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Implemented &amp; 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API Gateway Proxy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Express Gateway (:3000)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Central reverse proxy with route rewriting, auth forwarding, and Helmet.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Implemented &amp; Verified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Object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MinIO Cluster (:9000)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S3-compatible bucket storage for binary PDFs with presigned streaming.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Implemented &amp; 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Document Database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MongoDB (:27017)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Multi-collection schema with persistent disk volume (mongo-data).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Implemented &amp; Verified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Local Scientific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Extractive NLP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Deterministic sentence scoring for research section extraction.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Implemented &amp; 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Kubernetes Manifests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Deployments &amp; Services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k8s YAML manifests structured for cluster deployment.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Configured / Prototype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Automated CI/CD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GitHub Actions / NPM Scripts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Automated unit test runner and production build pipelines configured.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Configured / 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GitOps Deployment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Argo CD / Helm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Automated continuous delivery to Kubernetes clusters.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97706"/>
                          </a:solidFill>
                        </a:defRPr>
                      </a:pPr>
                      <a:r>
                        <a:t>Planned (Phase 5)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47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Cloud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AWS EKS / CloudWatch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Managed Kubernetes cluster deployment on AWS infrastructure.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97706"/>
                          </a:solidFill>
                        </a:defRPr>
                      </a:pPr>
                      <a:r>
                        <a:t>Planned (Phase 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8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0D15"/>
                </a:solidFill>
                <a:latin typeface="Arial"/>
              </a:defRPr>
            </a:pPr>
            <a:r>
              <a:t>CNAD PROJECT REVIEW — IMPLEMENTATION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Remaining Work, Limitations &amp; Future Enhancements</a:t>
            </a:r>
          </a:p>
        </p:txBody>
      </p:sp>
      <p:pic>
        <p:nvPicPr>
          <p:cNvPr id="6" name="Picture 5" descr="r1_slide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828800" cy="6107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Cloud-Native AI Research Discovery Platform | Department of CSE, KL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October 28, 2026 | Slide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2120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173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80D15"/>
                </a:solidFill>
                <a:latin typeface="Arial"/>
              </a:defRPr>
            </a:pPr>
            <a:r>
              <a:t>Current Prototype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A80D15"/>
                </a:solidFill>
              </a:defRPr>
            </a:pPr>
            <a:r>
              <a:t>• External LLM API Key Requirement:</a:t>
            </a:r>
            <a:br/>
            <a:r>
              <a:rPr b="0" sz="1000">
                <a:solidFill>
                  <a:srgbClr val="64748B"/>
                </a:solidFill>
              </a:rPr>
              <a:t>  Generative paper synthesis currently requires a configured external AI_API_KEY (OpenAI/Groq). In its absence, the verified Local Scientific NLP Pipeline operates as a reliable extractive fallback.
</a:t>
            </a:r>
          </a:p>
          <a:p>
            <a:pPr>
              <a:defRPr b="1" sz="1050">
                <a:solidFill>
                  <a:srgbClr val="A80D15"/>
                </a:solidFill>
              </a:defRPr>
            </a:pPr>
            <a:r>
              <a:t>• OCR for Scanned Historical Papers:</a:t>
            </a:r>
            <a:br/>
            <a:r>
              <a:rPr b="0" sz="1000">
                <a:solidFill>
                  <a:srgbClr val="64748B"/>
                </a:solidFill>
              </a:rPr>
              <a:t>  PyMuPDF extracts embedded font streams. Purely scanned image-only PDFs currently return 'completed_without_ai' and prompt the user to upload text. Dedicated OCR integration is scheduled.
</a:t>
            </a:r>
          </a:p>
          <a:p>
            <a:pPr>
              <a:defRPr b="1" sz="1050">
                <a:solidFill>
                  <a:srgbClr val="A80D15"/>
                </a:solidFill>
              </a:defRPr>
            </a:pPr>
            <a:r>
              <a:t>• Local Docker Environment:</a:t>
            </a:r>
            <a:br/>
            <a:r>
              <a:rPr b="0" sz="1000">
                <a:solidFill>
                  <a:srgbClr val="64748B"/>
                </a:solidFill>
              </a:rPr>
              <a:t>  The current demonstration operates reliably on local Docker Compose. Production deployment on a managed public cloud Kubernetes cluster (AWS EKS) remains the target for Phase 6.
</a:t>
            </a:r>
          </a:p>
          <a:p>
            <a:pPr>
              <a:defRPr b="1" sz="1050">
                <a:solidFill>
                  <a:srgbClr val="A80D15"/>
                </a:solidFill>
              </a:defRPr>
            </a:pPr>
            <a:r>
              <a:t>• Semantic Vector Search:</a:t>
            </a:r>
            <a:br/>
            <a:r>
              <a:rPr b="0" sz="1000">
                <a:solidFill>
                  <a:srgbClr val="64748B"/>
                </a:solidFill>
              </a:rPr>
              <a:t>  Recommendations currently use Jaccard keyword overlap. Upgrading to high-dimensional dense vector embeddings (e.g., Pinecone/Milvus) will further improve conceptual nuance.
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2120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173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Phased Development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2563EB"/>
                </a:solidFill>
              </a:defRPr>
            </a:pPr>
            <a:r>
              <a:t>• Phase 5: Helm, GitOps &amp; Security Pipeline:</a:t>
            </a:r>
            <a:br/>
            <a:r>
              <a:rPr b="0" sz="1000">
                <a:solidFill>
                  <a:srgbClr val="0F172A"/>
                </a:solidFill>
              </a:rPr>
              <a:t>• Package microservices into modular Helm charts.
• Implement Argo CD for declarative GitOps synchronization.
• Integrate Trivy container vulnerability scanning in GitHub Actions.
</a:t>
            </a:r>
          </a:p>
          <a:p>
            <a:pPr>
              <a:defRPr b="1" sz="1050">
                <a:solidFill>
                  <a:srgbClr val="2563EB"/>
                </a:solidFill>
              </a:defRPr>
            </a:pPr>
            <a:r>
              <a:t>• Phase 6: AWS EKS Cloud Deployment:</a:t>
            </a:r>
            <a:br/>
            <a:r>
              <a:rPr b="0" sz="1000">
                <a:solidFill>
                  <a:srgbClr val="0F172A"/>
                </a:solidFill>
              </a:rPr>
              <a:t>• Provision managed AWS EKS cluster with multi-AZ node groups.
• Migrate local MinIO to managed Amazon S3 with IAM role security.
• Configure AWS ALB Ingress Controller with SSL termination.
</a:t>
            </a:r>
          </a:p>
          <a:p>
            <a:pPr>
              <a:defRPr b="1" sz="1050">
                <a:solidFill>
                  <a:srgbClr val="2563EB"/>
                </a:solidFill>
              </a:defRPr>
            </a:pPr>
            <a:r>
              <a:t>• Observability &amp; Metrics:</a:t>
            </a:r>
            <a:br/>
            <a:r>
              <a:rPr b="0" sz="1000">
                <a:solidFill>
                  <a:srgbClr val="0F172A"/>
                </a:solidFill>
              </a:rPr>
              <a:t>• Deploy Prometheus operators for cluster resource telemetry.
• Build Grafana dashboards tracking API request latency, PyMuPDF extraction times, and container memory utilization.
</a:t>
            </a:r>
          </a:p>
          <a:p>
            <a:pPr>
              <a:defRPr b="1" sz="1050">
                <a:solidFill>
                  <a:srgbClr val="2563EB"/>
                </a:solidFill>
              </a:defRPr>
            </a:pPr>
            <a:r>
              <a:t>• Dense Vector Embeddings:</a:t>
            </a:r>
            <a:br/>
            <a:r>
              <a:rPr b="0" sz="1000">
                <a:solidFill>
                  <a:srgbClr val="0F172A"/>
                </a:solidFill>
              </a:rPr>
              <a:t>• Integrate sentence-transformer embeddings for semantic paper similarity matching beyond lexical keyword overlap.
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8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0D15"/>
                </a:solidFill>
                <a:latin typeface="Arial"/>
              </a:defRPr>
            </a:pPr>
            <a:r>
              <a:t>CNAD PROJECT REVIEW — IMPLEMENTATION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Conclusion &amp; Live Demonstration Sequence</a:t>
            </a:r>
          </a:p>
        </p:txBody>
      </p:sp>
      <p:pic>
        <p:nvPicPr>
          <p:cNvPr id="6" name="Picture 5" descr="r1_slide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828800" cy="6107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Cloud-Native AI Research Discovery Platform | Department of CSE, KL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October 28, 2026 | Slide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2120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173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80D15"/>
                </a:solidFill>
                <a:latin typeface="Arial"/>
              </a:defRPr>
            </a:pPr>
            <a:r>
              <a:t>Project Summary &amp; Achievements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A80D15"/>
                </a:solidFill>
              </a:defRPr>
            </a:pPr>
            <a:r>
              <a:t>✔ From Concept to Working System:</a:t>
            </a:r>
            <a:br/>
            <a:r>
              <a:rPr b="0" sz="1000">
                <a:solidFill>
                  <a:srgbClr val="0F172A"/>
                </a:solidFill>
              </a:rPr>
              <a:t>  Successfully transitioned from initial proposal into an active, containerized, multi-service platform.
</a:t>
            </a:r>
          </a:p>
          <a:p>
            <a:pPr>
              <a:defRPr b="1" sz="1050">
                <a:solidFill>
                  <a:srgbClr val="A80D15"/>
                </a:solidFill>
              </a:defRPr>
            </a:pPr>
            <a:r>
              <a:t>✔ Verified Dual Ingest Engine:</a:t>
            </a:r>
            <a:br/>
            <a:r>
              <a:rPr b="0" sz="1000">
                <a:solidFill>
                  <a:srgbClr val="0F172A"/>
                </a:solidFill>
              </a:rPr>
              <a:t>  Both raw text abstracts and PDF research papers are reliably processed with zero simulated mock data.
</a:t>
            </a:r>
          </a:p>
          <a:p>
            <a:pPr>
              <a:defRPr b="1" sz="1050">
                <a:solidFill>
                  <a:srgbClr val="A80D15"/>
                </a:solidFill>
              </a:defRPr>
            </a:pPr>
            <a:r>
              <a:t>✔ Genuine Scientific Section Analysis:</a:t>
            </a:r>
            <a:br/>
            <a:r>
              <a:rPr b="0" sz="1000">
                <a:solidFill>
                  <a:srgbClr val="0F172A"/>
                </a:solidFill>
              </a:rPr>
              <a:t>  Generates real problem statements, objectives, methodology, quantitative findings, limitations, and keywords.
</a:t>
            </a:r>
          </a:p>
          <a:p>
            <a:pPr>
              <a:defRPr b="1" sz="1050">
                <a:solidFill>
                  <a:srgbClr val="A80D15"/>
                </a:solidFill>
              </a:defRPr>
            </a:pPr>
            <a:r>
              <a:t>✔ Cloud-Native Architecture:</a:t>
            </a:r>
            <a:br/>
            <a:r>
              <a:rPr b="0" sz="1000">
                <a:solidFill>
                  <a:srgbClr val="0F172A"/>
                </a:solidFill>
              </a:rPr>
              <a:t>  Strict microservice decoupling, stateless gateway routing, and persistent MinIO/MongoDB storage.
</a:t>
            </a:r>
          </a:p>
          <a:p>
            <a:pPr>
              <a:defRPr b="1" sz="1050">
                <a:solidFill>
                  <a:srgbClr val="A80D15"/>
                </a:solidFill>
              </a:defRPr>
            </a:pPr>
            <a:r>
              <a:t>✔ 100% Test Passing Rate:</a:t>
            </a:r>
            <a:br/>
            <a:r>
              <a:rPr b="0" sz="1000">
                <a:solidFill>
                  <a:srgbClr val="0F172A"/>
                </a:solidFill>
              </a:rPr>
              <a:t>  29 unit tests passed; 17 end-to-end integration workflows verified across all container boundaries.
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2120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173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Live Demonstration Sequence for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59669"/>
                </a:solidFill>
              </a:defRPr>
            </a:pPr>
            <a:r>
              <a:t>Step 1: User Login:</a:t>
            </a:r>
            <a:br/>
            <a:r>
              <a:rPr b="0" sz="950">
                <a:solidFill>
                  <a:srgbClr val="0F172A"/>
                </a:solidFill>
              </a:rPr>
              <a:t>  Log in via demo@university.edu / password123. Show JWT token authentication and dashboard metrics.
</a:t>
            </a:r>
          </a:p>
          <a:p>
            <a:pPr>
              <a:defRPr b="1" sz="1050">
                <a:solidFill>
                  <a:srgbClr val="059669"/>
                </a:solidFill>
              </a:defRPr>
            </a:pPr>
            <a:r>
              <a:t>Step 2: Academic Discovery:</a:t>
            </a:r>
            <a:br/>
            <a:r>
              <a:rPr b="0" sz="950">
                <a:solidFill>
                  <a:srgbClr val="0F172A"/>
                </a:solidFill>
              </a:rPr>
              <a:t>  Search 'microservices' in Discover page. Show live OpenAlex results and local fallback capability.
</a:t>
            </a:r>
          </a:p>
          <a:p>
            <a:pPr>
              <a:defRPr b="1" sz="1050">
                <a:solidFill>
                  <a:srgbClr val="059669"/>
                </a:solidFill>
              </a:defRPr>
            </a:pPr>
            <a:r>
              <a:t>Step 3: Abstract Submission:</a:t>
            </a:r>
            <a:br/>
            <a:r>
              <a:rPr b="0" sz="950">
                <a:solidFill>
                  <a:srgbClr val="0F172A"/>
                </a:solidFill>
              </a:rPr>
              <a:t>  Paste real Kubernetes research abstract. Show 4-stage processing stepper and extracted findings.
</a:t>
            </a:r>
          </a:p>
          <a:p>
            <a:pPr>
              <a:defRPr b="1" sz="1050">
                <a:solidFill>
                  <a:srgbClr val="059669"/>
                </a:solidFill>
              </a:defRPr>
            </a:pPr>
            <a:r>
              <a:t>Step 4: PDF Document Upload:</a:t>
            </a:r>
            <a:br/>
            <a:r>
              <a:rPr b="0" sz="950">
                <a:solidFill>
                  <a:srgbClr val="0F172A"/>
                </a:solidFill>
              </a:rPr>
              <a:t>  Upload research paper PDF. Show MinIO S3 key creation, PyMuPDF text extraction, and inline PDF view.
</a:t>
            </a:r>
          </a:p>
          <a:p>
            <a:pPr>
              <a:defRPr b="1" sz="1050">
                <a:solidFill>
                  <a:srgbClr val="059669"/>
                </a:solidFill>
              </a:defRPr>
            </a:pPr>
            <a:r>
              <a:t>Step 5: Recommendations &amp; Library:</a:t>
            </a:r>
            <a:br/>
            <a:r>
              <a:rPr b="0" sz="950">
                <a:solidFill>
                  <a:srgbClr val="0F172A"/>
                </a:solidFill>
              </a:rPr>
              <a:t>  Show contextual paper recommendations matching the abstract. Bookmark paper and verify persistence.
</a:t>
            </a:r>
          </a:p>
          <a:p>
            <a:pPr>
              <a:defRPr sz="950" b="1">
                <a:solidFill>
                  <a:srgbClr val="2563EB"/>
                </a:solidFill>
              </a:defRPr>
            </a:pPr>
            <a:r>
              <a:t>Verified Running URLs: Frontend: http://localhost:5173 | Gateway: http://localhost:3000 | Health: http://localhost:3000/health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